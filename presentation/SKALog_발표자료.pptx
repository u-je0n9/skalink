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notesMasterIdLst>
    <p:notesMasterId r:id="rId2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notesMaster" Target="notesMasters/notesMaster1.xml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heme" Target="theme/theme1.xml"/><Relationship Id="rId2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[object Object]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8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F5B45"/>
          </a:solidFill>
          <a:ln w="12700">
            <a:solidFill>
              <a:srgbClr val="0F5B4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75488" y="201168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5B4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SKALog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75488" y="603504"/>
            <a:ext cx="11228832" cy="0"/>
          </a:xfrm>
          <a:prstGeom prst="line">
            <a:avLst/>
          </a:prstGeom>
          <a:noFill/>
          <a:ln w="12700">
            <a:solidFill>
              <a:srgbClr val="DDE5E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75488" y="6510528"/>
            <a:ext cx="3840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A87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SKALA AI Campus · Full-stack Engineering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28832" y="6473952"/>
            <a:ext cx="4572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7A8780"/>
                </a:solidFill>
                <a:latin typeface="Pretendard"/>
                <a:ea typeface="Pretendard"/>
                <a:cs typeface="Pretendard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28832" y="6473952"/>
            <a:ext cx="4572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7A8780"/>
                </a:solidFill>
                <a:latin typeface="Pretendard"/>
                <a:ea typeface="Pretendard"/>
                <a:cs typeface="Pretendard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image" Target="../media/image-17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3" Type="http://schemas.openxmlformats.org/officeDocument/2006/relationships/image" Target="../media/image-19-3.png"/><Relationship Id="rId4" Type="http://schemas.openxmlformats.org/officeDocument/2006/relationships/image" Target="../media/image-19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33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080000">
            <a:off x="8138160" y="502920"/>
            <a:ext cx="3429000" cy="3429000"/>
          </a:xfrm>
          <a:prstGeom prst="arc">
            <a:avLst/>
          </a:prstGeom>
          <a:solidFill>
            <a:srgbClr val="0B3328">
              <a:alpha val="0"/>
            </a:srgbClr>
          </a:solidFill>
          <a:ln w="381000">
            <a:solidFill>
              <a:srgbClr val="2E755E">
                <a:alpha val="7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012680" y="4846320"/>
            <a:ext cx="1371600" cy="1371600"/>
          </a:xfrm>
          <a:prstGeom prst="ellipse">
            <a:avLst/>
          </a:prstGeom>
          <a:solidFill>
            <a:srgbClr val="D7EF65">
              <a:alpha val="95000"/>
            </a:srgbClr>
          </a:solidFill>
          <a:ln w="12700">
            <a:solidFill>
              <a:srgbClr val="D7EF65">
                <a:alpha val="0"/>
              </a:srgbClr>
            </a:solidFill>
            <a:prstDash val="solid"/>
          </a:ln>
        </p:spPr>
      </p:sp>
      <p:pic>
        <p:nvPicPr>
          <p:cNvPr id="4" name="Image 0" descr="/Users/yjsung/Desktop/SKALA/0908_AI_web_service/projects/skalog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0372" y="502920"/>
            <a:ext cx="2139696" cy="71323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713232" y="1874520"/>
            <a:ext cx="74980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수업이 끝나도,</a:t>
            </a:r>
            <a:endParaRPr lang="en-US" sz="3400" dirty="0"/>
          </a:p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지식은 계속 이어지도록</a:t>
            </a:r>
            <a:endParaRPr lang="en-US" sz="3400" dirty="0"/>
          </a:p>
        </p:txBody>
      </p:sp>
      <p:sp>
        <p:nvSpPr>
          <p:cNvPr id="6" name="Text 3"/>
          <p:cNvSpPr txBox="1"/>
          <p:nvPr/>
        </p:nvSpPr>
        <p:spPr>
          <a:xfrm>
            <a:off x="749808" y="3547872"/>
            <a:ext cx="6126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DCEAE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10개 반의 질문과 답변, 보충 설명과 학습 자료를</a:t>
            </a:r>
            <a:endParaRPr lang="en-US" sz="1700" dirty="0"/>
          </a:p>
          <a:p>
            <a:pPr algn="l" indent="0" marL="0">
              <a:buNone/>
            </a:pPr>
            <a:r>
              <a:rPr lang="en-US" sz="1700" dirty="0">
                <a:solidFill>
                  <a:srgbClr val="DCEAE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하나의 흐름으로 연결하는 학습 지식 공유 서비스</a:t>
            </a:r>
            <a:endParaRPr lang="en-US" sz="1700" dirty="0"/>
          </a:p>
        </p:txBody>
      </p:sp>
      <p:sp>
        <p:nvSpPr>
          <p:cNvPr id="7" name="Shape 4"/>
          <p:cNvSpPr/>
          <p:nvPr/>
        </p:nvSpPr>
        <p:spPr>
          <a:xfrm>
            <a:off x="749808" y="4709160"/>
            <a:ext cx="1600200" cy="274320"/>
          </a:xfrm>
          <a:prstGeom prst="roundRect">
            <a:avLst>
              <a:gd name="adj" fmla="val 26667"/>
            </a:avLst>
          </a:prstGeom>
          <a:solidFill>
            <a:srgbClr val="D7EF65"/>
          </a:solidFill>
          <a:ln w="12700">
            <a:solidFill>
              <a:srgbClr val="D7EF65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49808" y="470916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B332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WEB SERVICE DESIGN</a:t>
            </a:r>
            <a:endParaRPr lang="en-US" sz="900" dirty="0"/>
          </a:p>
        </p:txBody>
      </p:sp>
      <p:sp>
        <p:nvSpPr>
          <p:cNvPr id="9" name="Text 6"/>
          <p:cNvSpPr txBox="1"/>
          <p:nvPr/>
        </p:nvSpPr>
        <p:spPr>
          <a:xfrm>
            <a:off x="749808" y="6144768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BFD5C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1반 6조  ·  P016 성유정</a:t>
            </a:r>
            <a:endParaRPr lang="en-US" sz="1100" dirty="0"/>
          </a:p>
        </p:txBody>
      </p:sp>
      <p:sp>
        <p:nvSpPr>
          <p:cNvPr id="10" name="Text 7"/>
          <p:cNvSpPr txBox="1"/>
          <p:nvPr/>
        </p:nvSpPr>
        <p:spPr>
          <a:xfrm>
            <a:off x="8339328" y="3913632"/>
            <a:ext cx="26060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SKALog</a:t>
            </a:r>
            <a:endParaRPr lang="en-US" sz="3600" dirty="0"/>
          </a:p>
        </p:txBody>
      </p:sp>
      <p:sp>
        <p:nvSpPr>
          <p:cNvPr id="11" name="Text 8"/>
          <p:cNvSpPr txBox="1"/>
          <p:nvPr/>
        </p:nvSpPr>
        <p:spPr>
          <a:xfrm>
            <a:off x="8549640" y="4553712"/>
            <a:ext cx="21762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C6DED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SKALA + Log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777240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5775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OVERVIEW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1024128"/>
            <a:ext cx="11018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7231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오늘 이야기할 네 가지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517904"/>
            <a:ext cx="10972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4755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문제에서 시작해 사용자 경험과 기술 설계까지 연결합니다.</a:t>
            </a:r>
            <a:endParaRPr lang="en-US" sz="135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210312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17A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1508760" y="2103120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7231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왜 SKALog인가</a:t>
            </a:r>
            <a:endParaRPr lang="en-US" sz="1900" dirty="0"/>
          </a:p>
        </p:txBody>
      </p:sp>
      <p:sp>
        <p:nvSpPr>
          <p:cNvPr id="7" name="Text 5"/>
          <p:cNvSpPr txBox="1"/>
          <p:nvPr/>
        </p:nvSpPr>
        <p:spPr>
          <a:xfrm>
            <a:off x="4617720" y="214884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배경 · Pain Point · 해결 방향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8961120" y="2313432"/>
            <a:ext cx="2194560" cy="0"/>
          </a:xfrm>
          <a:prstGeom prst="line">
            <a:avLst/>
          </a:prstGeom>
          <a:noFill/>
          <a:ln w="38100">
            <a:solidFill>
              <a:srgbClr val="F17A4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85800" y="3044952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F5B4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</a:t>
            </a:r>
            <a:endParaRPr lang="en-US" sz="2400" dirty="0"/>
          </a:p>
        </p:txBody>
      </p:sp>
      <p:sp>
        <p:nvSpPr>
          <p:cNvPr id="10" name="Text 8"/>
          <p:cNvSpPr txBox="1"/>
          <p:nvPr/>
        </p:nvSpPr>
        <p:spPr>
          <a:xfrm>
            <a:off x="1508760" y="3044952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7231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누가 어떻게 쓰는가</a:t>
            </a:r>
            <a:endParaRPr lang="en-US" sz="1900" dirty="0"/>
          </a:p>
        </p:txBody>
      </p:sp>
      <p:sp>
        <p:nvSpPr>
          <p:cNvPr id="11" name="Text 9"/>
          <p:cNvSpPr txBox="1"/>
          <p:nvPr/>
        </p:nvSpPr>
        <p:spPr>
          <a:xfrm>
            <a:off x="4617720" y="3090672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사용자 역할 · 핵심 사용자 여정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961120" y="3255264"/>
            <a:ext cx="2194560" cy="0"/>
          </a:xfrm>
          <a:prstGeom prst="line">
            <a:avLst/>
          </a:prstGeom>
          <a:noFill/>
          <a:ln w="12700">
            <a:solidFill>
              <a:srgbClr val="D8E1DC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85800" y="3986784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F5B4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</a:t>
            </a:r>
            <a:endParaRPr lang="en-US" sz="2400" dirty="0"/>
          </a:p>
        </p:txBody>
      </p:sp>
      <p:sp>
        <p:nvSpPr>
          <p:cNvPr id="14" name="Text 12"/>
          <p:cNvSpPr txBox="1"/>
          <p:nvPr/>
        </p:nvSpPr>
        <p:spPr>
          <a:xfrm>
            <a:off x="1508760" y="3986784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7231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어떻게 구현했는가</a:t>
            </a:r>
            <a:endParaRPr lang="en-US" sz="1900" dirty="0"/>
          </a:p>
        </p:txBody>
      </p:sp>
      <p:sp>
        <p:nvSpPr>
          <p:cNvPr id="15" name="Text 13"/>
          <p:cNvSpPr txBox="1"/>
          <p:nvPr/>
        </p:nvSpPr>
        <p:spPr>
          <a:xfrm>
            <a:off x="4617720" y="4032504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데이터 모델 · OAS 기반 Mock API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8961120" y="4197096"/>
            <a:ext cx="2194560" cy="0"/>
          </a:xfrm>
          <a:prstGeom prst="line">
            <a:avLst/>
          </a:prstGeom>
          <a:noFill/>
          <a:ln w="12700">
            <a:solidFill>
              <a:srgbClr val="D8E1DC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85800" y="4928616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F5B4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</a:t>
            </a:r>
            <a:endParaRPr lang="en-US" sz="2400" dirty="0"/>
          </a:p>
        </p:txBody>
      </p:sp>
      <p:sp>
        <p:nvSpPr>
          <p:cNvPr id="18" name="Text 16"/>
          <p:cNvSpPr txBox="1"/>
          <p:nvPr/>
        </p:nvSpPr>
        <p:spPr>
          <a:xfrm>
            <a:off x="1508760" y="4928616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7231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어디까지 확장할까</a:t>
            </a:r>
            <a:endParaRPr lang="en-US" sz="1900" dirty="0"/>
          </a:p>
        </p:txBody>
      </p:sp>
      <p:sp>
        <p:nvSpPr>
          <p:cNvPr id="19" name="Text 17"/>
          <p:cNvSpPr txBox="1"/>
          <p:nvPr/>
        </p:nvSpPr>
        <p:spPr>
          <a:xfrm>
            <a:off x="4617720" y="4974336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검증 결과 · 개선 로드맵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8961120" y="5138928"/>
            <a:ext cx="2194560" cy="0"/>
          </a:xfrm>
          <a:prstGeom prst="line">
            <a:avLst/>
          </a:prstGeom>
          <a:noFill/>
          <a:ln w="12700">
            <a:solidFill>
              <a:srgbClr val="D8E1DC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28832" y="6473952"/>
            <a:ext cx="4572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7A8780"/>
                </a:solidFill>
                <a:latin typeface="Pretendard"/>
                <a:ea typeface="Pretendard"/>
                <a:cs typeface="Pretendard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777240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5775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 · BACKGROUND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1024128"/>
            <a:ext cx="11018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7231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질문은 반복되는데, 답은 흩어져 있었습니다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517904"/>
            <a:ext cx="10972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4755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같은 수업을 듣는 10개 반의 지식이 반과 채널의 경계에서 단절됩니다.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52160" y="1901952"/>
            <a:ext cx="5669280" cy="4160520"/>
          </a:xfrm>
          <a:prstGeom prst="roundRect">
            <a:avLst>
              <a:gd name="adj" fmla="val 2198"/>
            </a:avLst>
          </a:prstGeom>
          <a:solidFill>
            <a:srgbClr val="FFFFFF"/>
          </a:solidFill>
          <a:ln w="12700">
            <a:solidFill>
              <a:srgbClr val="D8E1DC"/>
            </a:solidFill>
            <a:prstDash val="solid"/>
          </a:ln>
          <a:effectLst>
            <a:outerShdw sx="100000" sy="100000" kx="0" ky="0" algn="bl" rotWithShape="0" blurRad="25400" dist="50800" dir="2700000">
              <a:srgbClr val="A6B4AC">
                <a:alpha val="14000"/>
              </a:srgbClr>
            </a:outerShdw>
          </a:effectLst>
        </p:spPr>
      </p:sp>
      <p:pic>
        <p:nvPicPr>
          <p:cNvPr id="6" name="Image 0" descr="/Users/yjsung/Desktop/SKALA/0908_AI_web_service/presentation/assets/image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80245" y="1975104"/>
            <a:ext cx="5413109" cy="4014216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685800" y="2148840"/>
            <a:ext cx="46177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0F5B4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“저번 반에서 나온 질문,</a:t>
            </a:r>
            <a:endParaRPr lang="en-US" sz="2500" dirty="0"/>
          </a:p>
          <a:p>
            <a:pPr algn="l" indent="0" marL="0">
              <a:buNone/>
            </a:pPr>
            <a:r>
              <a:rPr lang="en-US" sz="2500" b="1" dirty="0">
                <a:solidFill>
                  <a:srgbClr val="0F5B4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우리 반도 볼 수 없을까?”</a:t>
            </a:r>
            <a:endParaRPr lang="en-US" sz="2500" dirty="0"/>
          </a:p>
        </p:txBody>
      </p:sp>
      <p:sp>
        <p:nvSpPr>
          <p:cNvPr id="8" name="Shape 5"/>
          <p:cNvSpPr/>
          <p:nvPr/>
        </p:nvSpPr>
        <p:spPr>
          <a:xfrm>
            <a:off x="758952" y="3822192"/>
            <a:ext cx="100584" cy="100584"/>
          </a:xfrm>
          <a:prstGeom prst="ellipse">
            <a:avLst/>
          </a:prstGeom>
          <a:solidFill>
            <a:srgbClr val="D7EF65"/>
          </a:solidFill>
          <a:ln w="12700">
            <a:solidFill>
              <a:srgbClr val="D7EF65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1005840" y="3703320"/>
            <a:ext cx="1051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7231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10개 반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1993392" y="370332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동일 과목을 다른 시간·층에서 수강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758952" y="4480560"/>
            <a:ext cx="100584" cy="100584"/>
          </a:xfrm>
          <a:prstGeom prst="ellipse">
            <a:avLst/>
          </a:prstGeom>
          <a:solidFill>
            <a:srgbClr val="F17A42"/>
          </a:solidFill>
          <a:ln w="12700">
            <a:solidFill>
              <a:srgbClr val="F17A42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1005840" y="4361688"/>
            <a:ext cx="1051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7231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4개 채널</a:t>
            </a:r>
            <a:endParaRPr lang="en-US" sz="1500" dirty="0"/>
          </a:p>
        </p:txBody>
      </p:sp>
      <p:sp>
        <p:nvSpPr>
          <p:cNvPr id="13" name="Text 10"/>
          <p:cNvSpPr txBox="1"/>
          <p:nvPr/>
        </p:nvSpPr>
        <p:spPr>
          <a:xfrm>
            <a:off x="1993392" y="4361688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자료와 공지가 여러 공간에 분산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758952" y="5138928"/>
            <a:ext cx="100584" cy="100584"/>
          </a:xfrm>
          <a:prstGeom prst="ellipse">
            <a:avLst/>
          </a:prstGeom>
          <a:solidFill>
            <a:srgbClr val="D7EF65"/>
          </a:solidFill>
          <a:ln w="12700">
            <a:solidFill>
              <a:srgbClr val="D7EF65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1005840" y="5020056"/>
            <a:ext cx="1051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7231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반복 질문</a:t>
            </a:r>
            <a:endParaRPr lang="en-US" sz="1500" dirty="0"/>
          </a:p>
        </p:txBody>
      </p:sp>
      <p:sp>
        <p:nvSpPr>
          <p:cNvPr id="16" name="Text 13"/>
          <p:cNvSpPr txBox="1"/>
          <p:nvPr/>
        </p:nvSpPr>
        <p:spPr>
          <a:xfrm>
            <a:off x="1993392" y="5020056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이미 답한 질문이 다른 반에서 다시 발생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28832" y="6473952"/>
            <a:ext cx="4572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7A8780"/>
                </a:solidFill>
                <a:latin typeface="Pretendard"/>
                <a:ea typeface="Pretendard"/>
                <a:cs typeface="Pretendard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777240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5775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 · BACKGROUND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1024128"/>
            <a:ext cx="11018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7231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자료의 위치보다 더 큰 문제는 “최신본”이었습니다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517904"/>
            <a:ext cx="10972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4755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찾는 비용과 변경 확인 비용이 동시에 발생했습니다.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58368" y="1993392"/>
            <a:ext cx="3154680" cy="1856232"/>
          </a:xfrm>
          <a:prstGeom prst="roundRect">
            <a:avLst>
              <a:gd name="adj" fmla="val 4926"/>
            </a:avLst>
          </a:prstGeom>
          <a:solidFill>
            <a:srgbClr val="FFFFFF"/>
          </a:solidFill>
          <a:ln w="12700">
            <a:solidFill>
              <a:srgbClr val="D8E1DC"/>
            </a:solidFill>
            <a:prstDash val="solid"/>
          </a:ln>
          <a:effectLst>
            <a:outerShdw sx="100000" sy="100000" kx="0" ky="0" algn="bl" rotWithShape="0" blurRad="25400" dist="50800" dir="2700000">
              <a:srgbClr val="A6B4AC">
                <a:alpha val="14000"/>
              </a:srgbClr>
            </a:outerShdw>
          </a:effectLst>
        </p:spPr>
      </p:sp>
      <p:pic>
        <p:nvPicPr>
          <p:cNvPr id="6" name="Image 0" descr="/Users/yjsung/Desktop/SKALA/0908_AI_web_service/presentation/assets/image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2124769"/>
            <a:ext cx="3008376" cy="1593478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822960" y="2139696"/>
            <a:ext cx="822960" cy="27432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822960" y="2139696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5B4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분산된 채널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4096512" y="1993392"/>
            <a:ext cx="3657600" cy="388620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D8E1DC"/>
            </a:solidFill>
            <a:prstDash val="solid"/>
          </a:ln>
          <a:effectLst>
            <a:outerShdw sx="100000" sy="100000" kx="0" ky="0" algn="bl" rotWithShape="0" blurRad="25400" dist="50800" dir="2700000">
              <a:srgbClr val="A6B4AC">
                <a:alpha val="14000"/>
              </a:srgbClr>
            </a:outerShdw>
          </a:effectLst>
        </p:spPr>
      </p:sp>
      <p:pic>
        <p:nvPicPr>
          <p:cNvPr id="10" name="Image 1" descr="/Users/yjsung/Desktop/SKALA/0908_AI_web_service/presentation/assets/image8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82909" y="2066544"/>
            <a:ext cx="2884805" cy="3739896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4261104" y="2139696"/>
            <a:ext cx="822960" cy="27432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4261104" y="2139696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5B4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변경 공지</a:t>
            </a:r>
            <a:endParaRPr lang="en-US" sz="900" dirty="0"/>
          </a:p>
        </p:txBody>
      </p:sp>
      <p:sp>
        <p:nvSpPr>
          <p:cNvPr id="13" name="Shape 9"/>
          <p:cNvSpPr/>
          <p:nvPr/>
        </p:nvSpPr>
        <p:spPr>
          <a:xfrm>
            <a:off x="8083296" y="1993392"/>
            <a:ext cx="3456432" cy="3886200"/>
          </a:xfrm>
          <a:prstGeom prst="roundRect">
            <a:avLst>
              <a:gd name="adj" fmla="val 2646"/>
            </a:avLst>
          </a:prstGeom>
          <a:solidFill>
            <a:srgbClr val="0B3328"/>
          </a:solidFill>
          <a:ln w="12700">
            <a:solidFill>
              <a:srgbClr val="0B3328"/>
            </a:solidFill>
            <a:prstDash val="solid"/>
          </a:ln>
        </p:spPr>
      </p:sp>
      <p:sp>
        <p:nvSpPr>
          <p:cNvPr id="14" name="Text 10"/>
          <p:cNvSpPr txBox="1"/>
          <p:nvPr/>
        </p:nvSpPr>
        <p:spPr>
          <a:xfrm>
            <a:off x="8412480" y="233172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D7EF6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사용자의 실제 질문</a:t>
            </a:r>
            <a:endParaRPr lang="en-US" sz="1100" dirty="0"/>
          </a:p>
        </p:txBody>
      </p:sp>
      <p:sp>
        <p:nvSpPr>
          <p:cNvPr id="15" name="Text 11"/>
          <p:cNvSpPr txBox="1"/>
          <p:nvPr/>
        </p:nvSpPr>
        <p:spPr>
          <a:xfrm>
            <a:off x="8412480" y="288036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“어디에 있지?”</a:t>
            </a:r>
            <a:endParaRPr lang="en-US" sz="2500" dirty="0"/>
          </a:p>
        </p:txBody>
      </p:sp>
      <p:sp>
        <p:nvSpPr>
          <p:cNvPr id="16" name="Text 12"/>
          <p:cNvSpPr txBox="1"/>
          <p:nvPr/>
        </p:nvSpPr>
        <p:spPr>
          <a:xfrm>
            <a:off x="8412480" y="3584448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“이게 최신본 맞나?”</a:t>
            </a:r>
            <a:endParaRPr lang="en-US" sz="2500" dirty="0"/>
          </a:p>
        </p:txBody>
      </p:sp>
      <p:sp>
        <p:nvSpPr>
          <p:cNvPr id="17" name="Shape 13"/>
          <p:cNvSpPr/>
          <p:nvPr/>
        </p:nvSpPr>
        <p:spPr>
          <a:xfrm>
            <a:off x="8412480" y="4343400"/>
            <a:ext cx="2651760" cy="0"/>
          </a:xfrm>
          <a:prstGeom prst="line">
            <a:avLst/>
          </a:prstGeom>
          <a:noFill/>
          <a:ln w="12700">
            <a:solidFill>
              <a:srgbClr val="477967"/>
            </a:solidFill>
            <a:prstDash val="solid"/>
          </a:ln>
        </p:spPr>
      </p:sp>
      <p:sp>
        <p:nvSpPr>
          <p:cNvPr id="18" name="Text 14"/>
          <p:cNvSpPr txBox="1"/>
          <p:nvPr/>
        </p:nvSpPr>
        <p:spPr>
          <a:xfrm>
            <a:off x="8412480" y="4599432"/>
            <a:ext cx="2651760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DDEBE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결국 필요한 것은</a:t>
            </a:r>
            <a:endParaRPr lang="en-US" sz="1500" dirty="0"/>
          </a:p>
          <a:p>
            <a:pPr algn="l" indent="0" marL="0">
              <a:buNone/>
            </a:pPr>
            <a:r>
              <a:rPr lang="en-US" sz="1500" b="1" dirty="0">
                <a:solidFill>
                  <a:srgbClr val="DDEBE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파일 보관함이 아니라</a:t>
            </a:r>
            <a:endParaRPr lang="en-US" sz="1500" dirty="0"/>
          </a:p>
          <a:p>
            <a:pPr algn="l" indent="0" marL="0">
              <a:buNone/>
            </a:pPr>
            <a:r>
              <a:rPr lang="en-US" sz="1500" b="1" dirty="0">
                <a:solidFill>
                  <a:srgbClr val="DDEBE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변경 맥락까지 남는 공간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28832" y="6473952"/>
            <a:ext cx="4572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7A8780"/>
                </a:solidFill>
                <a:latin typeface="Pretendard"/>
                <a:ea typeface="Pretendard"/>
                <a:cs typeface="Pretendard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777240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5775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 · PAIN POINT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1024128"/>
            <a:ext cx="11018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7231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네 가지 단절을, 네 가지 제품 원칙으로 바꿨습니다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517904"/>
            <a:ext cx="10972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4755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교육생과 교수님 모두의 흐름을 동시에 줄이는 방향으로 설계했습니다.</a:t>
            </a:r>
            <a:endParaRPr lang="en-US" sz="1350" dirty="0"/>
          </a:p>
        </p:txBody>
      </p:sp>
      <p:sp>
        <p:nvSpPr>
          <p:cNvPr id="5" name="Text 3"/>
          <p:cNvSpPr txBox="1"/>
          <p:nvPr/>
        </p:nvSpPr>
        <p:spPr>
          <a:xfrm>
            <a:off x="713232" y="1947672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17A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PAIN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3986784" y="194767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F5B4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DESIGN PRINCIPLE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8275320" y="1947672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5775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USER VALUE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58368" y="2340864"/>
            <a:ext cx="2743200" cy="603504"/>
          </a:xfrm>
          <a:prstGeom prst="roundRect">
            <a:avLst>
              <a:gd name="adj" fmla="val 15152"/>
            </a:avLst>
          </a:prstGeom>
          <a:solidFill>
            <a:srgbClr val="FDECE4"/>
          </a:solidFill>
          <a:ln w="12700">
            <a:solidFill>
              <a:srgbClr val="F7B89A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96112" y="2340864"/>
            <a:ext cx="22402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B34A2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자료 분산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3493008" y="2642616"/>
            <a:ext cx="365760" cy="0"/>
          </a:xfrm>
          <a:prstGeom prst="line">
            <a:avLst/>
          </a:prstGeom>
          <a:noFill/>
          <a:ln w="19050">
            <a:solidFill>
              <a:srgbClr val="25775D"/>
            </a:solidFill>
            <a:prstDash val="solid"/>
            <a:headEnd type="none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3950208" y="2340864"/>
            <a:ext cx="3639312" cy="603504"/>
          </a:xfrm>
          <a:prstGeom prst="roundRect">
            <a:avLst>
              <a:gd name="adj" fmla="val 15152"/>
            </a:avLst>
          </a:prstGeom>
          <a:solidFill>
            <a:srgbClr val="E8F3ED"/>
          </a:solidFill>
          <a:ln w="12700">
            <a:solidFill>
              <a:srgbClr val="D8EBE1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224528" y="2340864"/>
            <a:ext cx="312724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F5B4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과목 중심 통합 아카이브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7680960" y="2642616"/>
            <a:ext cx="365760" cy="0"/>
          </a:xfrm>
          <a:prstGeom prst="line">
            <a:avLst/>
          </a:prstGeom>
          <a:noFill/>
          <a:ln w="19050">
            <a:solidFill>
              <a:srgbClr val="25775D"/>
            </a:solidFill>
            <a:prstDash val="solid"/>
            <a:headEnd type="none"/>
            <a:tailEnd type="triangle"/>
          </a:ln>
        </p:spPr>
      </p:sp>
      <p:sp>
        <p:nvSpPr>
          <p:cNvPr id="14" name="Text 12"/>
          <p:cNvSpPr txBox="1"/>
          <p:nvPr/>
        </p:nvSpPr>
        <p:spPr>
          <a:xfrm>
            <a:off x="8229600" y="2340864"/>
            <a:ext cx="28346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4755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한 곳에서 검색·열람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58368" y="3172968"/>
            <a:ext cx="2743200" cy="603504"/>
          </a:xfrm>
          <a:prstGeom prst="roundRect">
            <a:avLst>
              <a:gd name="adj" fmla="val 15152"/>
            </a:avLst>
          </a:prstGeom>
          <a:solidFill>
            <a:srgbClr val="FFFFFF"/>
          </a:solidFill>
          <a:ln w="12700">
            <a:solidFill>
              <a:srgbClr val="D8E1DC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96112" y="3172968"/>
            <a:ext cx="22402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7231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최신본 혼선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3493008" y="3474720"/>
            <a:ext cx="365760" cy="0"/>
          </a:xfrm>
          <a:prstGeom prst="line">
            <a:avLst/>
          </a:prstGeom>
          <a:noFill/>
          <a:ln w="19050">
            <a:solidFill>
              <a:srgbClr val="25775D"/>
            </a:solidFill>
            <a:prstDash val="solid"/>
            <a:headEnd type="none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3950208" y="3172968"/>
            <a:ext cx="3639312" cy="603504"/>
          </a:xfrm>
          <a:prstGeom prst="roundRect">
            <a:avLst>
              <a:gd name="adj" fmla="val 15152"/>
            </a:avLst>
          </a:prstGeom>
          <a:solidFill>
            <a:srgbClr val="E8F3ED"/>
          </a:solidFill>
          <a:ln w="12700">
            <a:solidFill>
              <a:srgbClr val="D8EBE1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4224528" y="3172968"/>
            <a:ext cx="312724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F5B4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버전 + 변경 내용 관리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7680960" y="3474720"/>
            <a:ext cx="365760" cy="0"/>
          </a:xfrm>
          <a:prstGeom prst="line">
            <a:avLst/>
          </a:prstGeom>
          <a:noFill/>
          <a:ln w="19050">
            <a:solidFill>
              <a:srgbClr val="25775D"/>
            </a:solidFill>
            <a:prstDash val="solid"/>
            <a:headEnd type="none"/>
            <a:tailEnd type="triangle"/>
          </a:ln>
        </p:spPr>
      </p:sp>
      <p:sp>
        <p:nvSpPr>
          <p:cNvPr id="21" name="Text 19"/>
          <p:cNvSpPr txBox="1"/>
          <p:nvPr/>
        </p:nvSpPr>
        <p:spPr>
          <a:xfrm>
            <a:off x="8229600" y="3172968"/>
            <a:ext cx="28346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4755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무엇이 달라졌는지 즉시 확인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658368" y="4005072"/>
            <a:ext cx="2743200" cy="603504"/>
          </a:xfrm>
          <a:prstGeom prst="roundRect">
            <a:avLst>
              <a:gd name="adj" fmla="val 15152"/>
            </a:avLst>
          </a:prstGeom>
          <a:solidFill>
            <a:srgbClr val="FFFFFF"/>
          </a:solidFill>
          <a:ln w="12700">
            <a:solidFill>
              <a:srgbClr val="D8E1DC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896112" y="4005072"/>
            <a:ext cx="22402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7231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질문 반복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3493008" y="4306824"/>
            <a:ext cx="365760" cy="0"/>
          </a:xfrm>
          <a:prstGeom prst="line">
            <a:avLst/>
          </a:prstGeom>
          <a:noFill/>
          <a:ln w="19050">
            <a:solidFill>
              <a:srgbClr val="25775D"/>
            </a:solidFill>
            <a:prstDash val="solid"/>
            <a:headEnd type="none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3950208" y="4005072"/>
            <a:ext cx="3639312" cy="603504"/>
          </a:xfrm>
          <a:prstGeom prst="roundRect">
            <a:avLst>
              <a:gd name="adj" fmla="val 15152"/>
            </a:avLst>
          </a:prstGeom>
          <a:solidFill>
            <a:srgbClr val="E8F3ED"/>
          </a:solidFill>
          <a:ln w="12700">
            <a:solidFill>
              <a:srgbClr val="D8EBE1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4224528" y="4005072"/>
            <a:ext cx="312724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F5B4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전 반 Q&amp;A + 유사 질문</a:t>
            </a:r>
            <a:endParaRPr lang="en-US" sz="1500" dirty="0"/>
          </a:p>
        </p:txBody>
      </p:sp>
      <p:sp>
        <p:nvSpPr>
          <p:cNvPr id="27" name="Shape 25"/>
          <p:cNvSpPr/>
          <p:nvPr/>
        </p:nvSpPr>
        <p:spPr>
          <a:xfrm>
            <a:off x="7680960" y="4306824"/>
            <a:ext cx="365760" cy="0"/>
          </a:xfrm>
          <a:prstGeom prst="line">
            <a:avLst/>
          </a:prstGeom>
          <a:noFill/>
          <a:ln w="19050">
            <a:solidFill>
              <a:srgbClr val="25775D"/>
            </a:solidFill>
            <a:prstDash val="solid"/>
            <a:headEnd type="none"/>
            <a:tailEnd type="triangle"/>
          </a:ln>
        </p:spPr>
      </p:sp>
      <p:sp>
        <p:nvSpPr>
          <p:cNvPr id="28" name="Text 26"/>
          <p:cNvSpPr txBox="1"/>
          <p:nvPr/>
        </p:nvSpPr>
        <p:spPr>
          <a:xfrm>
            <a:off x="8229600" y="4005072"/>
            <a:ext cx="28346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4755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이미 쌓인 답을 재사용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658368" y="4837176"/>
            <a:ext cx="2743200" cy="603504"/>
          </a:xfrm>
          <a:prstGeom prst="roundRect">
            <a:avLst>
              <a:gd name="adj" fmla="val 15152"/>
            </a:avLst>
          </a:prstGeom>
          <a:solidFill>
            <a:srgbClr val="FFFFFF"/>
          </a:solidFill>
          <a:ln w="12700">
            <a:solidFill>
              <a:srgbClr val="D8E1DC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896112" y="4837176"/>
            <a:ext cx="22402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7231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공개 범위 복잡</a:t>
            </a:r>
            <a:endParaRPr lang="en-US" sz="1500" dirty="0"/>
          </a:p>
        </p:txBody>
      </p:sp>
      <p:sp>
        <p:nvSpPr>
          <p:cNvPr id="31" name="Shape 29"/>
          <p:cNvSpPr/>
          <p:nvPr/>
        </p:nvSpPr>
        <p:spPr>
          <a:xfrm>
            <a:off x="3493008" y="5138928"/>
            <a:ext cx="365760" cy="0"/>
          </a:xfrm>
          <a:prstGeom prst="line">
            <a:avLst/>
          </a:prstGeom>
          <a:noFill/>
          <a:ln w="19050">
            <a:solidFill>
              <a:srgbClr val="25775D"/>
            </a:solidFill>
            <a:prstDash val="solid"/>
            <a:headEnd type="none"/>
            <a:tailEnd type="triangle"/>
          </a:ln>
        </p:spPr>
      </p:sp>
      <p:sp>
        <p:nvSpPr>
          <p:cNvPr id="32" name="Shape 30"/>
          <p:cNvSpPr/>
          <p:nvPr/>
        </p:nvSpPr>
        <p:spPr>
          <a:xfrm>
            <a:off x="3950208" y="4837176"/>
            <a:ext cx="3639312" cy="603504"/>
          </a:xfrm>
          <a:prstGeom prst="roundRect">
            <a:avLst>
              <a:gd name="adj" fmla="val 15152"/>
            </a:avLst>
          </a:prstGeom>
          <a:solidFill>
            <a:srgbClr val="E8F3ED"/>
          </a:solidFill>
          <a:ln w="12700">
            <a:solidFill>
              <a:srgbClr val="D8EBE1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4224528" y="4837176"/>
            <a:ext cx="312724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F5B4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전체 · 층 · 담당 반 선택</a:t>
            </a:r>
            <a:endParaRPr lang="en-US" sz="1500" dirty="0"/>
          </a:p>
        </p:txBody>
      </p:sp>
      <p:sp>
        <p:nvSpPr>
          <p:cNvPr id="34" name="Shape 32"/>
          <p:cNvSpPr/>
          <p:nvPr/>
        </p:nvSpPr>
        <p:spPr>
          <a:xfrm>
            <a:off x="7680960" y="5138928"/>
            <a:ext cx="365760" cy="0"/>
          </a:xfrm>
          <a:prstGeom prst="line">
            <a:avLst/>
          </a:prstGeom>
          <a:noFill/>
          <a:ln w="19050">
            <a:solidFill>
              <a:srgbClr val="25775D"/>
            </a:solidFill>
            <a:prstDash val="solid"/>
            <a:headEnd type="none"/>
            <a:tailEnd type="triangle"/>
          </a:ln>
        </p:spPr>
      </p:sp>
      <p:sp>
        <p:nvSpPr>
          <p:cNvPr id="35" name="Text 33"/>
          <p:cNvSpPr txBox="1"/>
          <p:nvPr/>
        </p:nvSpPr>
        <p:spPr>
          <a:xfrm>
            <a:off x="8229600" y="4837176"/>
            <a:ext cx="28346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4755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배정 정보로 자동 노출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28832" y="6473952"/>
            <a:ext cx="4572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7A8780"/>
                </a:solidFill>
                <a:latin typeface="Pretendard"/>
                <a:ea typeface="Pretendard"/>
                <a:cs typeface="Pretendard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777240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5775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 · ACTORS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1024128"/>
            <a:ext cx="11018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7231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권한은 다르지만, 지식은 하나의 공간에 쌓입니다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517904"/>
            <a:ext cx="10972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4755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학생·교수님·관리자의 작업을 역할 기반으로 분리했습니다.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58368" y="2057400"/>
            <a:ext cx="3246120" cy="3611880"/>
          </a:xfrm>
          <a:prstGeom prst="roundRect">
            <a:avLst>
              <a:gd name="adj" fmla="val 2817"/>
            </a:avLst>
          </a:prstGeom>
          <a:solidFill>
            <a:srgbClr val="FFFFFF"/>
          </a:solidFill>
          <a:ln w="12700">
            <a:solidFill>
              <a:srgbClr val="D8E1DC"/>
            </a:solidFill>
            <a:prstDash val="solid"/>
          </a:ln>
          <a:effectLst>
            <a:outerShdw sx="100000" sy="100000" kx="0" ky="0" algn="bl" rotWithShape="0" blurRad="25400" dist="50800" dir="2700000">
              <a:srgbClr val="A6B4AC">
                <a:alpha val="14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2322576"/>
            <a:ext cx="804672" cy="274320"/>
          </a:xfrm>
          <a:prstGeom prst="roundRect">
            <a:avLst>
              <a:gd name="adj" fmla="val 26667"/>
            </a:avLst>
          </a:prstGeom>
          <a:solidFill>
            <a:srgbClr val="E8F3ED"/>
          </a:solidFill>
          <a:ln w="12700">
            <a:solidFill>
              <a:srgbClr val="E8F3ED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914400" y="2322576"/>
            <a:ext cx="804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17A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LEARN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914400" y="2788920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17231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교육생</a:t>
            </a:r>
            <a:endParaRPr lang="en-US" sz="2300" dirty="0"/>
          </a:p>
        </p:txBody>
      </p:sp>
      <p:sp>
        <p:nvSpPr>
          <p:cNvPr id="9" name="Shape 7"/>
          <p:cNvSpPr/>
          <p:nvPr/>
        </p:nvSpPr>
        <p:spPr>
          <a:xfrm>
            <a:off x="932688" y="3429000"/>
            <a:ext cx="292608" cy="292608"/>
          </a:xfrm>
          <a:prstGeom prst="ellipse">
            <a:avLst/>
          </a:prstGeom>
          <a:solidFill>
            <a:srgbClr val="F17A42"/>
          </a:solidFill>
          <a:ln w="12700">
            <a:solidFill>
              <a:srgbClr val="F17A4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932688" y="342900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1344168" y="3383280"/>
            <a:ext cx="22677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4755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내 반·층 기준 수업과 자료 자동 노출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932688" y="4032504"/>
            <a:ext cx="292608" cy="292608"/>
          </a:xfrm>
          <a:prstGeom prst="ellipse">
            <a:avLst/>
          </a:prstGeom>
          <a:solidFill>
            <a:srgbClr val="F17A42"/>
          </a:solidFill>
          <a:ln w="12700">
            <a:solidFill>
              <a:srgbClr val="F17A4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932688" y="403250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1344168" y="3986784"/>
            <a:ext cx="22677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4755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질문 등록·답변·해결 처리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932688" y="4636008"/>
            <a:ext cx="292608" cy="292608"/>
          </a:xfrm>
          <a:prstGeom prst="ellipse">
            <a:avLst/>
          </a:prstGeom>
          <a:solidFill>
            <a:srgbClr val="F17A42"/>
          </a:solidFill>
          <a:ln w="12700">
            <a:solidFill>
              <a:srgbClr val="F17A42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932688" y="463600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1344168" y="4590288"/>
            <a:ext cx="22677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4755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새 자료 읽음·숨김 상태 관리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4187952" y="2057400"/>
            <a:ext cx="3246120" cy="3611880"/>
          </a:xfrm>
          <a:prstGeom prst="roundRect">
            <a:avLst>
              <a:gd name="adj" fmla="val 2817"/>
            </a:avLst>
          </a:prstGeom>
          <a:solidFill>
            <a:srgbClr val="FFFFFF"/>
          </a:solidFill>
          <a:ln w="12700">
            <a:solidFill>
              <a:srgbClr val="D8E1DC"/>
            </a:solidFill>
            <a:prstDash val="solid"/>
          </a:ln>
          <a:effectLst>
            <a:outerShdw sx="100000" sy="100000" kx="0" ky="0" algn="bl" rotWithShape="0" blurRad="25400" dist="50800" dir="2700000">
              <a:srgbClr val="A6B4AC">
                <a:alpha val="14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443984" y="2322576"/>
            <a:ext cx="804672" cy="274320"/>
          </a:xfrm>
          <a:prstGeom prst="roundRect">
            <a:avLst>
              <a:gd name="adj" fmla="val 26667"/>
            </a:avLst>
          </a:prstGeom>
          <a:solidFill>
            <a:srgbClr val="E8F3ED"/>
          </a:solidFill>
          <a:ln w="12700">
            <a:solidFill>
              <a:srgbClr val="E8F3ED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443984" y="2322576"/>
            <a:ext cx="804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5B4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TEACH</a:t>
            </a:r>
            <a:endParaRPr lang="en-US" sz="900" dirty="0"/>
          </a:p>
        </p:txBody>
      </p:sp>
      <p:sp>
        <p:nvSpPr>
          <p:cNvPr id="21" name="Text 19"/>
          <p:cNvSpPr txBox="1"/>
          <p:nvPr/>
        </p:nvSpPr>
        <p:spPr>
          <a:xfrm>
            <a:off x="4443984" y="2788920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17231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교수님</a:t>
            </a:r>
            <a:endParaRPr lang="en-US" sz="2300" dirty="0"/>
          </a:p>
        </p:txBody>
      </p:sp>
      <p:sp>
        <p:nvSpPr>
          <p:cNvPr id="22" name="Shape 20"/>
          <p:cNvSpPr/>
          <p:nvPr/>
        </p:nvSpPr>
        <p:spPr>
          <a:xfrm>
            <a:off x="4462272" y="3429000"/>
            <a:ext cx="292608" cy="292608"/>
          </a:xfrm>
          <a:prstGeom prst="ellipse">
            <a:avLst/>
          </a:prstGeom>
          <a:solidFill>
            <a:srgbClr val="0F5B45"/>
          </a:solidFill>
          <a:ln w="12700">
            <a:solidFill>
              <a:srgbClr val="0F5B45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4462272" y="342900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</a:t>
            </a:r>
            <a:endParaRPr lang="en-US" sz="1000" dirty="0"/>
          </a:p>
        </p:txBody>
      </p:sp>
      <p:sp>
        <p:nvSpPr>
          <p:cNvPr id="24" name="Text 22"/>
          <p:cNvSpPr txBox="1"/>
          <p:nvPr/>
        </p:nvSpPr>
        <p:spPr>
          <a:xfrm>
            <a:off x="4873752" y="3383280"/>
            <a:ext cx="22677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4755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담당 과목 질문 우선 확인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4462272" y="4032504"/>
            <a:ext cx="292608" cy="292608"/>
          </a:xfrm>
          <a:prstGeom prst="ellipse">
            <a:avLst/>
          </a:prstGeom>
          <a:solidFill>
            <a:srgbClr val="0F5B45"/>
          </a:solidFill>
          <a:ln w="12700">
            <a:solidFill>
              <a:srgbClr val="0F5B45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4462272" y="403250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</a:t>
            </a:r>
            <a:endParaRPr lang="en-US" sz="1000" dirty="0"/>
          </a:p>
        </p:txBody>
      </p:sp>
      <p:sp>
        <p:nvSpPr>
          <p:cNvPr id="27" name="Text 25"/>
          <p:cNvSpPr txBox="1"/>
          <p:nvPr/>
        </p:nvSpPr>
        <p:spPr>
          <a:xfrm>
            <a:off x="4873752" y="3986784"/>
            <a:ext cx="22677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4755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전체·층·담당 반으로 공개 범위 선택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4462272" y="4636008"/>
            <a:ext cx="292608" cy="292608"/>
          </a:xfrm>
          <a:prstGeom prst="ellipse">
            <a:avLst/>
          </a:prstGeom>
          <a:solidFill>
            <a:srgbClr val="0F5B45"/>
          </a:solidFill>
          <a:ln w="12700">
            <a:solidFill>
              <a:srgbClr val="0F5B45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4462272" y="463600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</a:t>
            </a:r>
            <a:endParaRPr lang="en-US" sz="1000" dirty="0"/>
          </a:p>
        </p:txBody>
      </p:sp>
      <p:sp>
        <p:nvSpPr>
          <p:cNvPr id="30" name="Text 28"/>
          <p:cNvSpPr txBox="1"/>
          <p:nvPr/>
        </p:nvSpPr>
        <p:spPr>
          <a:xfrm>
            <a:off x="4873752" y="4590288"/>
            <a:ext cx="22677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4755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학습자료 버전·변경 내용 관리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7717536" y="2057400"/>
            <a:ext cx="3246120" cy="3611880"/>
          </a:xfrm>
          <a:prstGeom prst="roundRect">
            <a:avLst>
              <a:gd name="adj" fmla="val 2817"/>
            </a:avLst>
          </a:prstGeom>
          <a:solidFill>
            <a:srgbClr val="0B3328"/>
          </a:solidFill>
          <a:ln w="12700">
            <a:solidFill>
              <a:srgbClr val="0B3328"/>
            </a:solidFill>
            <a:prstDash val="solid"/>
          </a:ln>
          <a:effectLst>
            <a:outerShdw sx="100000" sy="100000" kx="0" ky="0" algn="bl" rotWithShape="0" blurRad="25400" dist="50800" dir="2700000">
              <a:srgbClr val="A6B4AC">
                <a:alpha val="14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7973568" y="2322576"/>
            <a:ext cx="804672" cy="274320"/>
          </a:xfrm>
          <a:prstGeom prst="roundRect">
            <a:avLst>
              <a:gd name="adj" fmla="val 26667"/>
            </a:avLst>
          </a:prstGeom>
          <a:solidFill>
            <a:srgbClr val="D7EF65"/>
          </a:solidFill>
          <a:ln w="12700">
            <a:solidFill>
              <a:srgbClr val="D7EF65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7973568" y="2322576"/>
            <a:ext cx="804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B332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OPERATE</a:t>
            </a:r>
            <a:endParaRPr lang="en-US" sz="900" dirty="0"/>
          </a:p>
        </p:txBody>
      </p:sp>
      <p:sp>
        <p:nvSpPr>
          <p:cNvPr id="34" name="Text 32"/>
          <p:cNvSpPr txBox="1"/>
          <p:nvPr/>
        </p:nvSpPr>
        <p:spPr>
          <a:xfrm>
            <a:off x="7973568" y="2788920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관리자</a:t>
            </a:r>
            <a:endParaRPr lang="en-US" sz="2300" dirty="0"/>
          </a:p>
        </p:txBody>
      </p:sp>
      <p:sp>
        <p:nvSpPr>
          <p:cNvPr id="35" name="Shape 33"/>
          <p:cNvSpPr/>
          <p:nvPr/>
        </p:nvSpPr>
        <p:spPr>
          <a:xfrm>
            <a:off x="7991856" y="3429000"/>
            <a:ext cx="292608" cy="292608"/>
          </a:xfrm>
          <a:prstGeom prst="ellipse">
            <a:avLst/>
          </a:prstGeom>
          <a:solidFill>
            <a:srgbClr val="4B8E78"/>
          </a:solidFill>
          <a:ln w="12700">
            <a:solidFill>
              <a:srgbClr val="4B8E78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7991856" y="342900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</a:t>
            </a:r>
            <a:endParaRPr lang="en-US" sz="1000" dirty="0"/>
          </a:p>
        </p:txBody>
      </p:sp>
      <p:sp>
        <p:nvSpPr>
          <p:cNvPr id="37" name="Text 35"/>
          <p:cNvSpPr txBox="1"/>
          <p:nvPr/>
        </p:nvSpPr>
        <p:spPr>
          <a:xfrm>
            <a:off x="8403336" y="3383280"/>
            <a:ext cx="22677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E3EEE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가입 요청·비활성 계정 승인</a:t>
            </a:r>
            <a:endParaRPr lang="en-US" sz="1250" dirty="0"/>
          </a:p>
        </p:txBody>
      </p:sp>
      <p:sp>
        <p:nvSpPr>
          <p:cNvPr id="38" name="Shape 36"/>
          <p:cNvSpPr/>
          <p:nvPr/>
        </p:nvSpPr>
        <p:spPr>
          <a:xfrm>
            <a:off x="7991856" y="4032504"/>
            <a:ext cx="292608" cy="292608"/>
          </a:xfrm>
          <a:prstGeom prst="ellipse">
            <a:avLst/>
          </a:prstGeom>
          <a:solidFill>
            <a:srgbClr val="4B8E78"/>
          </a:solidFill>
          <a:ln w="12700">
            <a:solidFill>
              <a:srgbClr val="4B8E78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7991856" y="403250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</a:t>
            </a:r>
            <a:endParaRPr lang="en-US" sz="1000" dirty="0"/>
          </a:p>
        </p:txBody>
      </p:sp>
      <p:sp>
        <p:nvSpPr>
          <p:cNvPr id="40" name="Text 38"/>
          <p:cNvSpPr txBox="1"/>
          <p:nvPr/>
        </p:nvSpPr>
        <p:spPr>
          <a:xfrm>
            <a:off x="8403336" y="3986784"/>
            <a:ext cx="22677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E3EEE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반별 학생 조회·활성 상태 관리</a:t>
            </a:r>
            <a:endParaRPr lang="en-US" sz="1250" dirty="0"/>
          </a:p>
        </p:txBody>
      </p:sp>
      <p:sp>
        <p:nvSpPr>
          <p:cNvPr id="41" name="Shape 39"/>
          <p:cNvSpPr/>
          <p:nvPr/>
        </p:nvSpPr>
        <p:spPr>
          <a:xfrm>
            <a:off x="7991856" y="4636008"/>
            <a:ext cx="292608" cy="292608"/>
          </a:xfrm>
          <a:prstGeom prst="ellipse">
            <a:avLst/>
          </a:prstGeom>
          <a:solidFill>
            <a:srgbClr val="4B8E78"/>
          </a:solidFill>
          <a:ln w="12700">
            <a:solidFill>
              <a:srgbClr val="4B8E78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7991856" y="463600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</a:t>
            </a:r>
            <a:endParaRPr lang="en-US" sz="1000" dirty="0"/>
          </a:p>
        </p:txBody>
      </p:sp>
      <p:sp>
        <p:nvSpPr>
          <p:cNvPr id="43" name="Text 41"/>
          <p:cNvSpPr txBox="1"/>
          <p:nvPr/>
        </p:nvSpPr>
        <p:spPr>
          <a:xfrm>
            <a:off x="8403336" y="4590288"/>
            <a:ext cx="22677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E3EEE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시간표·과목·교수 배정 관리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28832" y="6473952"/>
            <a:ext cx="4572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7A8780"/>
                </a:solidFill>
                <a:latin typeface="Pretendard"/>
                <a:ea typeface="Pretendard"/>
                <a:cs typeface="Pretendard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777240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5775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 · ENTRY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1024128"/>
            <a:ext cx="11018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7231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등록 이메일 하나로 역할별 화면에 진입합니다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517904"/>
            <a:ext cx="10972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4755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별도 아이디 없이 이메일·비밀번호로 로그인하고 계정 상태를 즉시 확인합니다.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199632" y="1828800"/>
            <a:ext cx="4937760" cy="4343400"/>
          </a:xfrm>
          <a:prstGeom prst="roundRect">
            <a:avLst>
              <a:gd name="adj" fmla="val 2105"/>
            </a:avLst>
          </a:prstGeom>
          <a:solidFill>
            <a:srgbClr val="FFFFFF"/>
          </a:solidFill>
          <a:ln w="12700">
            <a:solidFill>
              <a:srgbClr val="D8E1DC"/>
            </a:solidFill>
            <a:prstDash val="solid"/>
          </a:ln>
          <a:effectLst>
            <a:outerShdw sx="100000" sy="100000" kx="0" ky="0" algn="bl" rotWithShape="0" blurRad="25400" dist="50800" dir="2700000">
              <a:srgbClr val="A6B4AC">
                <a:alpha val="14000"/>
              </a:srgbClr>
            </a:outerShdw>
          </a:effectLst>
        </p:spPr>
      </p:sp>
      <p:pic>
        <p:nvPicPr>
          <p:cNvPr id="6" name="Image 0" descr="/Users/yjsung/Desktop/SKALA/0908_AI_web_service/presentation/assets/image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72784" y="2462227"/>
            <a:ext cx="4791456" cy="3076545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713232" y="2084832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17A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1325880" y="2084832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7231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이메일 로그인</a:t>
            </a:r>
            <a:endParaRPr lang="en-US" sz="1800" dirty="0"/>
          </a:p>
        </p:txBody>
      </p:sp>
      <p:sp>
        <p:nvSpPr>
          <p:cNvPr id="9" name="Text 6"/>
          <p:cNvSpPr txBox="1"/>
          <p:nvPr/>
        </p:nvSpPr>
        <p:spPr>
          <a:xfrm>
            <a:off x="1325880" y="2468880"/>
            <a:ext cx="4069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등록 이메일을 로그인 ID로 사용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932688" y="2496312"/>
            <a:ext cx="0" cy="621792"/>
          </a:xfrm>
          <a:prstGeom prst="line">
            <a:avLst/>
          </a:prstGeom>
          <a:noFill/>
          <a:ln w="19050">
            <a:solidFill>
              <a:srgbClr val="D8E1DC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713232" y="3182112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5B4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</a:t>
            </a:r>
            <a:endParaRPr lang="en-US" sz="1200" dirty="0"/>
          </a:p>
        </p:txBody>
      </p:sp>
      <p:sp>
        <p:nvSpPr>
          <p:cNvPr id="12" name="Text 9"/>
          <p:cNvSpPr txBox="1"/>
          <p:nvPr/>
        </p:nvSpPr>
        <p:spPr>
          <a:xfrm>
            <a:off x="1325880" y="3182112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7231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상태 확인</a:t>
            </a:r>
            <a:endParaRPr lang="en-US" sz="1800" dirty="0"/>
          </a:p>
        </p:txBody>
      </p:sp>
      <p:sp>
        <p:nvSpPr>
          <p:cNvPr id="13" name="Text 10"/>
          <p:cNvSpPr txBox="1"/>
          <p:nvPr/>
        </p:nvSpPr>
        <p:spPr>
          <a:xfrm>
            <a:off x="1325880" y="3566160"/>
            <a:ext cx="4069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승인 대기·비활성 계정은 명확히 안내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932688" y="3593592"/>
            <a:ext cx="0" cy="621792"/>
          </a:xfrm>
          <a:prstGeom prst="line">
            <a:avLst/>
          </a:prstGeom>
          <a:noFill/>
          <a:ln w="19050">
            <a:solidFill>
              <a:srgbClr val="D8E1DC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713232" y="4279392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5B4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</a:t>
            </a:r>
            <a:endParaRPr lang="en-US" sz="1200" dirty="0"/>
          </a:p>
        </p:txBody>
      </p:sp>
      <p:sp>
        <p:nvSpPr>
          <p:cNvPr id="16" name="Text 13"/>
          <p:cNvSpPr txBox="1"/>
          <p:nvPr/>
        </p:nvSpPr>
        <p:spPr>
          <a:xfrm>
            <a:off x="1325880" y="4279392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7231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역할 라우팅</a:t>
            </a:r>
            <a:endParaRPr lang="en-US" sz="1800" dirty="0"/>
          </a:p>
        </p:txBody>
      </p:sp>
      <p:sp>
        <p:nvSpPr>
          <p:cNvPr id="17" name="Text 14"/>
          <p:cNvSpPr txBox="1"/>
          <p:nvPr/>
        </p:nvSpPr>
        <p:spPr>
          <a:xfrm>
            <a:off x="1325880" y="4663440"/>
            <a:ext cx="4069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교육생·교수님·관리자 화면으로 이동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713232" y="5596128"/>
            <a:ext cx="1444752" cy="274320"/>
          </a:xfrm>
          <a:prstGeom prst="roundRect">
            <a:avLst>
              <a:gd name="adj" fmla="val 26667"/>
            </a:avLst>
          </a:prstGeom>
          <a:solidFill>
            <a:srgbClr val="E8F3ED"/>
          </a:solidFill>
          <a:ln w="12700">
            <a:solidFill>
              <a:srgbClr val="E8F3ED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713232" y="5596128"/>
            <a:ext cx="14447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5B4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비밀번호 8자 이상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28832" y="6473952"/>
            <a:ext cx="4572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7A8780"/>
                </a:solidFill>
                <a:latin typeface="Pretendard"/>
                <a:ea typeface="Pretendard"/>
                <a:cs typeface="Pretendard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777240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5775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 · SIGN UP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1024128"/>
            <a:ext cx="11018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7231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가입 유형을 먼저 선택해, 필요한 정보만 받습니다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517904"/>
            <a:ext cx="10972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4755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교육생은 고유번호·반, 교수님은 사번으로 등록 정보를 검증합니다.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58368" y="1965960"/>
            <a:ext cx="3794760" cy="3886200"/>
          </a:xfrm>
          <a:prstGeom prst="roundRect">
            <a:avLst>
              <a:gd name="adj" fmla="val 2410"/>
            </a:avLst>
          </a:prstGeom>
          <a:solidFill>
            <a:srgbClr val="FFFFFF"/>
          </a:solidFill>
          <a:ln w="12700">
            <a:solidFill>
              <a:srgbClr val="D8E1DC"/>
            </a:solidFill>
            <a:prstDash val="solid"/>
          </a:ln>
          <a:effectLst>
            <a:outerShdw sx="100000" sy="100000" kx="0" ky="0" algn="bl" rotWithShape="0" blurRad="25400" dist="50800" dir="2700000">
              <a:srgbClr val="A6B4AC">
                <a:alpha val="14000"/>
              </a:srgbClr>
            </a:outerShdw>
          </a:effectLst>
        </p:spPr>
      </p:sp>
      <p:pic>
        <p:nvPicPr>
          <p:cNvPr id="6" name="Image 0" descr="/Users/yjsung/Desktop/SKALA/0908_AI_web_service/presentation/assets/image1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0536" y="2039112"/>
            <a:ext cx="3430424" cy="3739896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822960" y="2112264"/>
            <a:ext cx="822960" cy="27432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822960" y="2112264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5B4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교육생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7726680" y="1965960"/>
            <a:ext cx="3794760" cy="3886200"/>
          </a:xfrm>
          <a:prstGeom prst="roundRect">
            <a:avLst>
              <a:gd name="adj" fmla="val 2410"/>
            </a:avLst>
          </a:prstGeom>
          <a:solidFill>
            <a:srgbClr val="FFFFFF"/>
          </a:solidFill>
          <a:ln w="12700">
            <a:solidFill>
              <a:srgbClr val="D8E1DC"/>
            </a:solidFill>
            <a:prstDash val="solid"/>
          </a:ln>
          <a:effectLst>
            <a:outerShdw sx="100000" sy="100000" kx="0" ky="0" algn="bl" rotWithShape="0" blurRad="25400" dist="50800" dir="2700000">
              <a:srgbClr val="A6B4AC">
                <a:alpha val="14000"/>
              </a:srgbClr>
            </a:outerShdw>
          </a:effectLst>
        </p:spPr>
      </p:sp>
      <p:pic>
        <p:nvPicPr>
          <p:cNvPr id="10" name="Image 1" descr="/Users/yjsung/Desktop/SKALA/0908_AI_web_service/presentation/assets/image1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49713" y="2039112"/>
            <a:ext cx="3348693" cy="3739896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7891272" y="2112264"/>
            <a:ext cx="822960" cy="27432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7891272" y="2112264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5B4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교수님</a:t>
            </a:r>
            <a:endParaRPr lang="en-US" sz="900" dirty="0"/>
          </a:p>
        </p:txBody>
      </p:sp>
      <p:sp>
        <p:nvSpPr>
          <p:cNvPr id="13" name="Shape 9"/>
          <p:cNvSpPr/>
          <p:nvPr/>
        </p:nvSpPr>
        <p:spPr>
          <a:xfrm>
            <a:off x="4700016" y="2258568"/>
            <a:ext cx="2770632" cy="3182112"/>
          </a:xfrm>
          <a:prstGeom prst="roundRect">
            <a:avLst>
              <a:gd name="adj" fmla="val 3300"/>
            </a:avLst>
          </a:prstGeom>
          <a:solidFill>
            <a:srgbClr val="E8F3ED"/>
          </a:solidFill>
          <a:ln w="12700">
            <a:solidFill>
              <a:srgbClr val="D8EBE1"/>
            </a:solidFill>
            <a:prstDash val="solid"/>
          </a:ln>
        </p:spPr>
      </p:sp>
      <p:sp>
        <p:nvSpPr>
          <p:cNvPr id="14" name="Text 10"/>
          <p:cNvSpPr txBox="1"/>
          <p:nvPr/>
        </p:nvSpPr>
        <p:spPr>
          <a:xfrm>
            <a:off x="5010912" y="2542032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0F5B4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공통 검증 흐름</a:t>
            </a:r>
            <a:endParaRPr lang="en-US" sz="1700" dirty="0"/>
          </a:p>
        </p:txBody>
      </p:sp>
      <p:sp>
        <p:nvSpPr>
          <p:cNvPr id="15" name="Shape 11"/>
          <p:cNvSpPr/>
          <p:nvPr/>
        </p:nvSpPr>
        <p:spPr>
          <a:xfrm>
            <a:off x="5010912" y="3127248"/>
            <a:ext cx="292608" cy="292608"/>
          </a:xfrm>
          <a:prstGeom prst="ellipse">
            <a:avLst/>
          </a:prstGeom>
          <a:solidFill>
            <a:srgbClr val="0F5B45"/>
          </a:solidFill>
          <a:ln w="12700">
            <a:solidFill>
              <a:srgbClr val="0F5B45"/>
            </a:solidFill>
            <a:prstDash val="solid"/>
          </a:ln>
        </p:spPr>
      </p:sp>
      <p:sp>
        <p:nvSpPr>
          <p:cNvPr id="16" name="Text 12"/>
          <p:cNvSpPr txBox="1"/>
          <p:nvPr/>
        </p:nvSpPr>
        <p:spPr>
          <a:xfrm>
            <a:off x="5010912" y="312724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</a:t>
            </a:r>
            <a:endParaRPr lang="en-US" sz="1000" dirty="0"/>
          </a:p>
        </p:txBody>
      </p:sp>
      <p:sp>
        <p:nvSpPr>
          <p:cNvPr id="17" name="Text 13"/>
          <p:cNvSpPr txBox="1"/>
          <p:nvPr/>
        </p:nvSpPr>
        <p:spPr>
          <a:xfrm>
            <a:off x="5413248" y="3099816"/>
            <a:ext cx="1755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7231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가입 유형 선택</a:t>
            </a:r>
            <a:endParaRPr lang="en-US" sz="1250" dirty="0"/>
          </a:p>
        </p:txBody>
      </p:sp>
      <p:sp>
        <p:nvSpPr>
          <p:cNvPr id="18" name="Shape 14"/>
          <p:cNvSpPr/>
          <p:nvPr/>
        </p:nvSpPr>
        <p:spPr>
          <a:xfrm>
            <a:off x="5010912" y="3630168"/>
            <a:ext cx="292608" cy="292608"/>
          </a:xfrm>
          <a:prstGeom prst="ellipse">
            <a:avLst/>
          </a:prstGeom>
          <a:solidFill>
            <a:srgbClr val="0F5B45"/>
          </a:solidFill>
          <a:ln w="12700">
            <a:solidFill>
              <a:srgbClr val="0F5B45"/>
            </a:solidFill>
            <a:prstDash val="solid"/>
          </a:ln>
        </p:spPr>
      </p:sp>
      <p:sp>
        <p:nvSpPr>
          <p:cNvPr id="19" name="Text 15"/>
          <p:cNvSpPr txBox="1"/>
          <p:nvPr/>
        </p:nvSpPr>
        <p:spPr>
          <a:xfrm>
            <a:off x="5010912" y="363016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</a:t>
            </a:r>
            <a:endParaRPr lang="en-US" sz="1000" dirty="0"/>
          </a:p>
        </p:txBody>
      </p:sp>
      <p:sp>
        <p:nvSpPr>
          <p:cNvPr id="20" name="Text 16"/>
          <p:cNvSpPr txBox="1"/>
          <p:nvPr/>
        </p:nvSpPr>
        <p:spPr>
          <a:xfrm>
            <a:off x="5413248" y="3602736"/>
            <a:ext cx="1755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7231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등록 이메일 인증</a:t>
            </a:r>
            <a:endParaRPr lang="en-US" sz="1250" dirty="0"/>
          </a:p>
        </p:txBody>
      </p:sp>
      <p:sp>
        <p:nvSpPr>
          <p:cNvPr id="21" name="Shape 17"/>
          <p:cNvSpPr/>
          <p:nvPr/>
        </p:nvSpPr>
        <p:spPr>
          <a:xfrm>
            <a:off x="5010912" y="4133088"/>
            <a:ext cx="292608" cy="292608"/>
          </a:xfrm>
          <a:prstGeom prst="ellipse">
            <a:avLst/>
          </a:prstGeom>
          <a:solidFill>
            <a:srgbClr val="F17A42"/>
          </a:solidFill>
          <a:ln w="12700">
            <a:solidFill>
              <a:srgbClr val="F17A42"/>
            </a:solidFill>
            <a:prstDash val="solid"/>
          </a:ln>
        </p:spPr>
      </p:sp>
      <p:sp>
        <p:nvSpPr>
          <p:cNvPr id="22" name="Text 18"/>
          <p:cNvSpPr txBox="1"/>
          <p:nvPr/>
        </p:nvSpPr>
        <p:spPr>
          <a:xfrm>
            <a:off x="5010912" y="413308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</a:t>
            </a:r>
            <a:endParaRPr lang="en-US" sz="1000" dirty="0"/>
          </a:p>
        </p:txBody>
      </p:sp>
      <p:sp>
        <p:nvSpPr>
          <p:cNvPr id="23" name="Text 19"/>
          <p:cNvSpPr txBox="1"/>
          <p:nvPr/>
        </p:nvSpPr>
        <p:spPr>
          <a:xfrm>
            <a:off x="5413248" y="4105656"/>
            <a:ext cx="1755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7231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명단 정보 대조</a:t>
            </a:r>
            <a:endParaRPr lang="en-US" sz="1250" dirty="0"/>
          </a:p>
        </p:txBody>
      </p:sp>
      <p:sp>
        <p:nvSpPr>
          <p:cNvPr id="24" name="Shape 20"/>
          <p:cNvSpPr/>
          <p:nvPr/>
        </p:nvSpPr>
        <p:spPr>
          <a:xfrm>
            <a:off x="5010912" y="4636008"/>
            <a:ext cx="292608" cy="292608"/>
          </a:xfrm>
          <a:prstGeom prst="ellipse">
            <a:avLst/>
          </a:prstGeom>
          <a:solidFill>
            <a:srgbClr val="0F5B45"/>
          </a:solidFill>
          <a:ln w="12700">
            <a:solidFill>
              <a:srgbClr val="0F5B45"/>
            </a:solidFill>
            <a:prstDash val="solid"/>
          </a:ln>
        </p:spPr>
      </p:sp>
      <p:sp>
        <p:nvSpPr>
          <p:cNvPr id="25" name="Text 21"/>
          <p:cNvSpPr txBox="1"/>
          <p:nvPr/>
        </p:nvSpPr>
        <p:spPr>
          <a:xfrm>
            <a:off x="5010912" y="463600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</a:t>
            </a:r>
            <a:endParaRPr lang="en-US" sz="1000" dirty="0"/>
          </a:p>
        </p:txBody>
      </p:sp>
      <p:sp>
        <p:nvSpPr>
          <p:cNvPr id="26" name="Text 22"/>
          <p:cNvSpPr txBox="1"/>
          <p:nvPr/>
        </p:nvSpPr>
        <p:spPr>
          <a:xfrm>
            <a:off x="5413248" y="4608576"/>
            <a:ext cx="1755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7231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승인 또는 검토 대기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28832" y="6473952"/>
            <a:ext cx="4572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7A8780"/>
                </a:solidFill>
                <a:latin typeface="Pretendard"/>
                <a:ea typeface="Pretendard"/>
                <a:cs typeface="Pretendard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777240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5775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 · ADMIN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1024128"/>
            <a:ext cx="11018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7231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자동 승인과 관리자 검토를 함께 설계했습니다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517904"/>
            <a:ext cx="10972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4755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신규 요청과 기존 비활성 계정을 분리해 운영 실수를 줄입니다.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58368" y="1847088"/>
            <a:ext cx="4892040" cy="411480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12700">
            <a:solidFill>
              <a:srgbClr val="D8E1DC"/>
            </a:solidFill>
            <a:prstDash val="solid"/>
          </a:ln>
          <a:effectLst>
            <a:outerShdw sx="100000" sy="100000" kx="0" ky="0" algn="bl" rotWithShape="0" blurRad="25400" dist="50800" dir="2700000">
              <a:srgbClr val="A6B4AC">
                <a:alpha val="14000"/>
              </a:srgbClr>
            </a:outerShdw>
          </a:effectLst>
        </p:spPr>
      </p:sp>
      <p:pic>
        <p:nvPicPr>
          <p:cNvPr id="6" name="Image 0" descr="/Users/yjsung/Desktop/SKALA/0908_AI_web_service/presentation/assets/image1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7069" y="1920240"/>
            <a:ext cx="4034638" cy="3968496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822960" y="1993392"/>
            <a:ext cx="822960" cy="27432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822960" y="199339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5B4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가입 승인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6583680" y="2121408"/>
            <a:ext cx="4937760" cy="3401568"/>
          </a:xfrm>
          <a:prstGeom prst="roundRect">
            <a:avLst>
              <a:gd name="adj" fmla="val 2688"/>
            </a:avLst>
          </a:prstGeom>
          <a:solidFill>
            <a:srgbClr val="FFFFFF"/>
          </a:solidFill>
          <a:ln w="12700">
            <a:solidFill>
              <a:srgbClr val="D8E1DC"/>
            </a:solidFill>
            <a:prstDash val="solid"/>
          </a:ln>
          <a:effectLst>
            <a:outerShdw sx="100000" sy="100000" kx="0" ky="0" algn="bl" rotWithShape="0" blurRad="25400" dist="50800" dir="2700000">
              <a:srgbClr val="A6B4AC">
                <a:alpha val="14000"/>
              </a:srgbClr>
            </a:outerShdw>
          </a:effectLst>
        </p:spPr>
      </p:sp>
      <p:pic>
        <p:nvPicPr>
          <p:cNvPr id="10" name="Image 1" descr="/Users/yjsung/Desktop/SKALA/0908_AI_web_service/presentation/assets/image5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56832" y="2860774"/>
            <a:ext cx="4791456" cy="1922836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6748272" y="2267712"/>
            <a:ext cx="822960" cy="27432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6748272" y="226771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5B4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계정 상태</a:t>
            </a:r>
            <a:endParaRPr lang="en-US" sz="900" dirty="0"/>
          </a:p>
        </p:txBody>
      </p:sp>
      <p:sp>
        <p:nvSpPr>
          <p:cNvPr id="13" name="Shape 9"/>
          <p:cNvSpPr/>
          <p:nvPr/>
        </p:nvSpPr>
        <p:spPr>
          <a:xfrm>
            <a:off x="5650992" y="3749040"/>
            <a:ext cx="795528" cy="0"/>
          </a:xfrm>
          <a:prstGeom prst="line">
            <a:avLst/>
          </a:prstGeom>
          <a:noFill/>
          <a:ln w="19050">
            <a:solidFill>
              <a:srgbClr val="F17A42"/>
            </a:solidFill>
            <a:prstDash val="solid"/>
            <a:headEnd type="none"/>
            <a:tailEnd type="triangle"/>
          </a:ln>
        </p:spPr>
      </p:sp>
      <p:sp>
        <p:nvSpPr>
          <p:cNvPr id="14" name="Shape 10"/>
          <p:cNvSpPr/>
          <p:nvPr/>
        </p:nvSpPr>
        <p:spPr>
          <a:xfrm>
            <a:off x="5687568" y="3090672"/>
            <a:ext cx="731520" cy="274320"/>
          </a:xfrm>
          <a:prstGeom prst="roundRect">
            <a:avLst>
              <a:gd name="adj" fmla="val 26667"/>
            </a:avLst>
          </a:prstGeom>
          <a:solidFill>
            <a:srgbClr val="E8F3ED"/>
          </a:solidFill>
          <a:ln w="12700">
            <a:solidFill>
              <a:srgbClr val="E8F3ED"/>
            </a:solidFill>
            <a:prstDash val="solid"/>
          </a:ln>
        </p:spPr>
      </p:sp>
      <p:sp>
        <p:nvSpPr>
          <p:cNvPr id="15" name="Text 11"/>
          <p:cNvSpPr txBox="1"/>
          <p:nvPr/>
        </p:nvSpPr>
        <p:spPr>
          <a:xfrm>
            <a:off x="5687568" y="309067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5B4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자동 승인</a:t>
            </a:r>
            <a:endParaRPr lang="en-US" sz="900" dirty="0"/>
          </a:p>
        </p:txBody>
      </p:sp>
      <p:sp>
        <p:nvSpPr>
          <p:cNvPr id="16" name="Text 12"/>
          <p:cNvSpPr txBox="1"/>
          <p:nvPr/>
        </p:nvSpPr>
        <p:spPr>
          <a:xfrm>
            <a:off x="5669280" y="4041648"/>
            <a:ext cx="84124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4755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이름 · 고유번호/사번 · 이메일이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4755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등록 정보와 모두 일치하면 즉시 활성화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28832" y="6473952"/>
            <a:ext cx="4572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7A8780"/>
                </a:solidFill>
                <a:latin typeface="Pretendard"/>
                <a:ea typeface="Pretendard"/>
                <a:cs typeface="Pretendard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777240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5775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 · ADMIN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1024128"/>
            <a:ext cx="11018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7231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과목 하나에 10개 반의 수업 구조를 완성합니다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517904"/>
            <a:ext cx="10972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4755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과목 코드는 자동 생성하고, 반별 교수 배정을 운영 규칙에 맞게 저장합니다.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06440" y="1792224"/>
            <a:ext cx="5715000" cy="4315968"/>
          </a:xfrm>
          <a:prstGeom prst="roundRect">
            <a:avLst>
              <a:gd name="adj" fmla="val 2119"/>
            </a:avLst>
          </a:prstGeom>
          <a:solidFill>
            <a:srgbClr val="FFFFFF"/>
          </a:solidFill>
          <a:ln w="12700">
            <a:solidFill>
              <a:srgbClr val="D8E1DC"/>
            </a:solidFill>
            <a:prstDash val="solid"/>
          </a:ln>
          <a:effectLst>
            <a:outerShdw sx="100000" sy="100000" kx="0" ky="0" algn="bl" rotWithShape="0" blurRad="25400" dist="50800" dir="2700000">
              <a:srgbClr val="A6B4AC">
                <a:alpha val="14000"/>
              </a:srgbClr>
            </a:outerShdw>
          </a:effectLst>
        </p:spPr>
      </p:sp>
      <p:pic>
        <p:nvPicPr>
          <p:cNvPr id="6" name="Image 0" descr="/Users/yjsung/Desktop/SKALA/0908_AI_web_service/presentation/assets/image1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47244" y="1865376"/>
            <a:ext cx="3633392" cy="4169664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971032" y="1938528"/>
            <a:ext cx="822960" cy="27432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5971032" y="1938528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5B4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과목·시간표</a:t>
            </a:r>
            <a:endParaRPr lang="en-US" sz="900" dirty="0"/>
          </a:p>
        </p:txBody>
      </p:sp>
      <p:sp>
        <p:nvSpPr>
          <p:cNvPr id="9" name="Text 6"/>
          <p:cNvSpPr txBox="1"/>
          <p:nvPr/>
        </p:nvSpPr>
        <p:spPr>
          <a:xfrm>
            <a:off x="685800" y="2066544"/>
            <a:ext cx="1280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17A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10</a:t>
            </a:r>
            <a:endParaRPr lang="en-US" sz="3400" dirty="0"/>
          </a:p>
        </p:txBody>
      </p:sp>
      <p:sp>
        <p:nvSpPr>
          <p:cNvPr id="10" name="Text 7"/>
          <p:cNvSpPr txBox="1"/>
          <p:nvPr/>
        </p:nvSpPr>
        <p:spPr>
          <a:xfrm>
            <a:off x="685800" y="2697480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7231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개 반</a:t>
            </a:r>
            <a:endParaRPr lang="en-US" sz="1400" dirty="0"/>
          </a:p>
        </p:txBody>
      </p:sp>
      <p:sp>
        <p:nvSpPr>
          <p:cNvPr id="11" name="Text 8"/>
          <p:cNvSpPr txBox="1"/>
          <p:nvPr/>
        </p:nvSpPr>
        <p:spPr>
          <a:xfrm>
            <a:off x="685800" y="3044952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4755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각 반 최소 1명</a:t>
            </a:r>
            <a:endParaRPr lang="en-US" sz="1150" dirty="0"/>
          </a:p>
        </p:txBody>
      </p:sp>
      <p:sp>
        <p:nvSpPr>
          <p:cNvPr id="12" name="Text 9"/>
          <p:cNvSpPr txBox="1"/>
          <p:nvPr/>
        </p:nvSpPr>
        <p:spPr>
          <a:xfrm>
            <a:off x="2286000" y="2066544"/>
            <a:ext cx="1280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0F5B4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</a:t>
            </a:r>
            <a:endParaRPr lang="en-US" sz="3400" dirty="0"/>
          </a:p>
        </p:txBody>
      </p:sp>
      <p:sp>
        <p:nvSpPr>
          <p:cNvPr id="13" name="Text 10"/>
          <p:cNvSpPr txBox="1"/>
          <p:nvPr/>
        </p:nvSpPr>
        <p:spPr>
          <a:xfrm>
            <a:off x="2286000" y="2697480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7231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명 전임</a:t>
            </a:r>
            <a:endParaRPr lang="en-US" sz="1400" dirty="0"/>
          </a:p>
        </p:txBody>
      </p:sp>
      <p:sp>
        <p:nvSpPr>
          <p:cNvPr id="14" name="Text 11"/>
          <p:cNvSpPr txBox="1"/>
          <p:nvPr/>
        </p:nvSpPr>
        <p:spPr>
          <a:xfrm>
            <a:off x="2286000" y="3044952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4755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층별 1명</a:t>
            </a:r>
            <a:endParaRPr lang="en-US" sz="1150" dirty="0"/>
          </a:p>
        </p:txBody>
      </p:sp>
      <p:sp>
        <p:nvSpPr>
          <p:cNvPr id="15" name="Text 12"/>
          <p:cNvSpPr txBox="1"/>
          <p:nvPr/>
        </p:nvSpPr>
        <p:spPr>
          <a:xfrm>
            <a:off x="3886200" y="2066544"/>
            <a:ext cx="1280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0F5B4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8</a:t>
            </a:r>
            <a:endParaRPr lang="en-US" sz="3400" dirty="0"/>
          </a:p>
        </p:txBody>
      </p:sp>
      <p:sp>
        <p:nvSpPr>
          <p:cNvPr id="16" name="Text 13"/>
          <p:cNvSpPr txBox="1"/>
          <p:nvPr/>
        </p:nvSpPr>
        <p:spPr>
          <a:xfrm>
            <a:off x="3886200" y="2697480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7231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명 실습</a:t>
            </a:r>
            <a:endParaRPr lang="en-US" sz="1400" dirty="0"/>
          </a:p>
        </p:txBody>
      </p:sp>
      <p:sp>
        <p:nvSpPr>
          <p:cNvPr id="17" name="Text 14"/>
          <p:cNvSpPr txBox="1"/>
          <p:nvPr/>
        </p:nvSpPr>
        <p:spPr>
          <a:xfrm>
            <a:off x="3886200" y="3044952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4755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층별 4명</a:t>
            </a:r>
            <a:endParaRPr lang="en-US" sz="1150" dirty="0"/>
          </a:p>
        </p:txBody>
      </p:sp>
      <p:sp>
        <p:nvSpPr>
          <p:cNvPr id="18" name="Shape 15"/>
          <p:cNvSpPr/>
          <p:nvPr/>
        </p:nvSpPr>
        <p:spPr>
          <a:xfrm>
            <a:off x="685800" y="3840480"/>
            <a:ext cx="4663440" cy="1481328"/>
          </a:xfrm>
          <a:prstGeom prst="roundRect">
            <a:avLst>
              <a:gd name="adj" fmla="val 6173"/>
            </a:avLst>
          </a:prstGeom>
          <a:solidFill>
            <a:srgbClr val="0B3328"/>
          </a:solidFill>
          <a:ln w="12700">
            <a:solidFill>
              <a:srgbClr val="0B3328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960120" y="416052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4층  1–5반</a:t>
            </a:r>
            <a:endParaRPr lang="en-US" sz="1700" dirty="0"/>
          </a:p>
        </p:txBody>
      </p:sp>
      <p:sp>
        <p:nvSpPr>
          <p:cNvPr id="20" name="Text 17"/>
          <p:cNvSpPr txBox="1"/>
          <p:nvPr/>
        </p:nvSpPr>
        <p:spPr>
          <a:xfrm>
            <a:off x="2926080" y="4160520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D7EF6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전임 1  +  실습 4</a:t>
            </a:r>
            <a:endParaRPr lang="en-US" sz="1500" dirty="0"/>
          </a:p>
        </p:txBody>
      </p:sp>
      <p:sp>
        <p:nvSpPr>
          <p:cNvPr id="21" name="Text 18"/>
          <p:cNvSpPr txBox="1"/>
          <p:nvPr/>
        </p:nvSpPr>
        <p:spPr>
          <a:xfrm>
            <a:off x="960120" y="4645152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5층  6–10반</a:t>
            </a:r>
            <a:endParaRPr lang="en-US" sz="1700" dirty="0"/>
          </a:p>
        </p:txBody>
      </p:sp>
      <p:sp>
        <p:nvSpPr>
          <p:cNvPr id="22" name="Text 19"/>
          <p:cNvSpPr txBox="1"/>
          <p:nvPr/>
        </p:nvSpPr>
        <p:spPr>
          <a:xfrm>
            <a:off x="2926080" y="4645152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D7EF6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전임 1  +  실습 4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28832" y="6473952"/>
            <a:ext cx="4572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7A8780"/>
                </a:solidFill>
                <a:latin typeface="Pretendard"/>
                <a:ea typeface="Pretendard"/>
                <a:cs typeface="Pretendard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777240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5775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 · PROFESSOR HOME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1024128"/>
            <a:ext cx="11018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7231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교수님에게는 “내가 지금 답해야 할 것”이 먼저 보입니다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517904"/>
            <a:ext cx="10972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4755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담당 업무를 우선 제시하되, 전체 질문에도 기여할 수 있습니다.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58368" y="1901952"/>
            <a:ext cx="6720840" cy="4251960"/>
          </a:xfrm>
          <a:prstGeom prst="roundRect">
            <a:avLst>
              <a:gd name="adj" fmla="val 2151"/>
            </a:avLst>
          </a:prstGeom>
          <a:solidFill>
            <a:srgbClr val="FFFFFF"/>
          </a:solidFill>
          <a:ln w="12700">
            <a:solidFill>
              <a:srgbClr val="D8E1DC"/>
            </a:solidFill>
            <a:prstDash val="solid"/>
          </a:ln>
          <a:effectLst>
            <a:outerShdw sx="100000" sy="100000" kx="0" ky="0" algn="bl" rotWithShape="0" blurRad="25400" dist="50800" dir="2700000">
              <a:srgbClr val="A6B4AC">
                <a:alpha val="14000"/>
              </a:srgbClr>
            </a:outerShdw>
          </a:effectLst>
        </p:spPr>
      </p:sp>
      <p:pic>
        <p:nvPicPr>
          <p:cNvPr id="6" name="Image 0" descr="/Users/yjsung/Desktop/SKALA/0908_AI_web_service/presentation/assets/image2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98915" y="1975104"/>
            <a:ext cx="4839745" cy="4105656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822960" y="2048256"/>
            <a:ext cx="822960" cy="27432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822960" y="2048256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5B4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교수님 메인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7635240" y="1901952"/>
            <a:ext cx="388620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D8E1DC"/>
            </a:solidFill>
            <a:prstDash val="solid"/>
          </a:ln>
          <a:effectLst>
            <a:outerShdw sx="100000" sy="100000" kx="0" ky="0" algn="bl" rotWithShape="0" blurRad="25400" dist="50800" dir="2700000">
              <a:srgbClr val="A6B4AC">
                <a:alpha val="14000"/>
              </a:srgbClr>
            </a:outerShdw>
          </a:effectLst>
        </p:spPr>
      </p:sp>
      <p:pic>
        <p:nvPicPr>
          <p:cNvPr id="10" name="Image 1" descr="/Users/yjsung/Desktop/SKALA/0908_AI_web_service/presentation/assets/image7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08392" y="2148037"/>
            <a:ext cx="3739896" cy="147379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7799832" y="2048256"/>
            <a:ext cx="822960" cy="27432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7799832" y="2048256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5B4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질문 필터</a:t>
            </a:r>
            <a:endParaRPr lang="en-US" sz="900" dirty="0"/>
          </a:p>
        </p:txBody>
      </p:sp>
      <p:sp>
        <p:nvSpPr>
          <p:cNvPr id="13" name="Shape 9"/>
          <p:cNvSpPr/>
          <p:nvPr/>
        </p:nvSpPr>
        <p:spPr>
          <a:xfrm>
            <a:off x="7726680" y="4233672"/>
            <a:ext cx="292608" cy="292608"/>
          </a:xfrm>
          <a:prstGeom prst="ellipse">
            <a:avLst/>
          </a:prstGeom>
          <a:solidFill>
            <a:srgbClr val="0F5B45"/>
          </a:solidFill>
          <a:ln w="12700">
            <a:solidFill>
              <a:srgbClr val="0F5B45"/>
            </a:solidFill>
            <a:prstDash val="solid"/>
          </a:ln>
        </p:spPr>
      </p:sp>
      <p:sp>
        <p:nvSpPr>
          <p:cNvPr id="14" name="Text 10"/>
          <p:cNvSpPr txBox="1"/>
          <p:nvPr/>
        </p:nvSpPr>
        <p:spPr>
          <a:xfrm>
            <a:off x="7726680" y="423367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</a:t>
            </a:r>
            <a:endParaRPr lang="en-US" sz="1000" dirty="0"/>
          </a:p>
        </p:txBody>
      </p:sp>
      <p:sp>
        <p:nvSpPr>
          <p:cNvPr id="15" name="Text 11"/>
          <p:cNvSpPr txBox="1"/>
          <p:nvPr/>
        </p:nvSpPr>
        <p:spPr>
          <a:xfrm>
            <a:off x="8119872" y="4178808"/>
            <a:ext cx="1051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7231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담당 과목 우선</a:t>
            </a:r>
            <a:endParaRPr lang="en-US" sz="1250" dirty="0"/>
          </a:p>
        </p:txBody>
      </p:sp>
      <p:sp>
        <p:nvSpPr>
          <p:cNvPr id="16" name="Text 12"/>
          <p:cNvSpPr txBox="1"/>
          <p:nvPr/>
        </p:nvSpPr>
        <p:spPr>
          <a:xfrm>
            <a:off x="9171432" y="4178808"/>
            <a:ext cx="21671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4755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내 수업을 과목 목록 상단에 배치</a:t>
            </a:r>
            <a:endParaRPr lang="en-US" sz="1150" dirty="0"/>
          </a:p>
        </p:txBody>
      </p:sp>
      <p:sp>
        <p:nvSpPr>
          <p:cNvPr id="17" name="Shape 13"/>
          <p:cNvSpPr/>
          <p:nvPr/>
        </p:nvSpPr>
        <p:spPr>
          <a:xfrm>
            <a:off x="7726680" y="4745736"/>
            <a:ext cx="292608" cy="292608"/>
          </a:xfrm>
          <a:prstGeom prst="ellipse">
            <a:avLst/>
          </a:prstGeom>
          <a:solidFill>
            <a:srgbClr val="F17A42"/>
          </a:solidFill>
          <a:ln w="12700">
            <a:solidFill>
              <a:srgbClr val="F17A42"/>
            </a:solidFill>
            <a:prstDash val="solid"/>
          </a:ln>
        </p:spPr>
      </p:sp>
      <p:sp>
        <p:nvSpPr>
          <p:cNvPr id="18" name="Text 14"/>
          <p:cNvSpPr txBox="1"/>
          <p:nvPr/>
        </p:nvSpPr>
        <p:spPr>
          <a:xfrm>
            <a:off x="7726680" y="474573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</a:t>
            </a:r>
            <a:endParaRPr lang="en-US" sz="1000" dirty="0"/>
          </a:p>
        </p:txBody>
      </p:sp>
      <p:sp>
        <p:nvSpPr>
          <p:cNvPr id="19" name="Text 15"/>
          <p:cNvSpPr txBox="1"/>
          <p:nvPr/>
        </p:nvSpPr>
        <p:spPr>
          <a:xfrm>
            <a:off x="8119872" y="4690872"/>
            <a:ext cx="1051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7231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미해결 우선</a:t>
            </a:r>
            <a:endParaRPr lang="en-US" sz="1250" dirty="0"/>
          </a:p>
        </p:txBody>
      </p:sp>
      <p:sp>
        <p:nvSpPr>
          <p:cNvPr id="20" name="Text 16"/>
          <p:cNvSpPr txBox="1"/>
          <p:nvPr/>
        </p:nvSpPr>
        <p:spPr>
          <a:xfrm>
            <a:off x="9171432" y="4690872"/>
            <a:ext cx="21671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4755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답변을 기다리는 질문을 먼저 정렬</a:t>
            </a:r>
            <a:endParaRPr lang="en-US" sz="1150" dirty="0"/>
          </a:p>
        </p:txBody>
      </p:sp>
      <p:sp>
        <p:nvSpPr>
          <p:cNvPr id="21" name="Shape 17"/>
          <p:cNvSpPr/>
          <p:nvPr/>
        </p:nvSpPr>
        <p:spPr>
          <a:xfrm>
            <a:off x="7726680" y="5257800"/>
            <a:ext cx="292608" cy="292608"/>
          </a:xfrm>
          <a:prstGeom prst="ellipse">
            <a:avLst/>
          </a:prstGeom>
          <a:solidFill>
            <a:srgbClr val="0F5B45"/>
          </a:solidFill>
          <a:ln w="12700">
            <a:solidFill>
              <a:srgbClr val="0F5B45"/>
            </a:solidFill>
            <a:prstDash val="solid"/>
          </a:ln>
        </p:spPr>
      </p:sp>
      <p:sp>
        <p:nvSpPr>
          <p:cNvPr id="22" name="Text 18"/>
          <p:cNvSpPr txBox="1"/>
          <p:nvPr/>
        </p:nvSpPr>
        <p:spPr>
          <a:xfrm>
            <a:off x="7726680" y="525780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</a:t>
            </a:r>
            <a:endParaRPr lang="en-US" sz="1000" dirty="0"/>
          </a:p>
        </p:txBody>
      </p:sp>
      <p:sp>
        <p:nvSpPr>
          <p:cNvPr id="23" name="Text 19"/>
          <p:cNvSpPr txBox="1"/>
          <p:nvPr/>
        </p:nvSpPr>
        <p:spPr>
          <a:xfrm>
            <a:off x="8119872" y="5202936"/>
            <a:ext cx="1051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7231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전체 질문 보기</a:t>
            </a:r>
            <a:endParaRPr lang="en-US" sz="1250" dirty="0"/>
          </a:p>
        </p:txBody>
      </p:sp>
      <p:sp>
        <p:nvSpPr>
          <p:cNvPr id="24" name="Text 20"/>
          <p:cNvSpPr txBox="1"/>
          <p:nvPr/>
        </p:nvSpPr>
        <p:spPr>
          <a:xfrm>
            <a:off x="9171432" y="5202936"/>
            <a:ext cx="21671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4755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담당 외 질문에도 답변 가능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28832" y="6473952"/>
            <a:ext cx="4572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7A8780"/>
                </a:solidFill>
                <a:latin typeface="Pretendard"/>
                <a:ea typeface="Pretendard"/>
                <a:cs typeface="Pretendard"/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777240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5775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 · STUDENT HOME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1024128"/>
            <a:ext cx="11018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7231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학생의 오늘과, 놓치면 안 될 변화를 한 화면에 모았습니다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517904"/>
            <a:ext cx="10972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4755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개인 반·층 정보에 맞는 일정과 자료만 노출합니다.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58368" y="1828800"/>
            <a:ext cx="7543800" cy="4315968"/>
          </a:xfrm>
          <a:prstGeom prst="roundRect">
            <a:avLst>
              <a:gd name="adj" fmla="val 2119"/>
            </a:avLst>
          </a:prstGeom>
          <a:solidFill>
            <a:srgbClr val="FFFFFF"/>
          </a:solidFill>
          <a:ln w="12700">
            <a:solidFill>
              <a:srgbClr val="D8E1DC"/>
            </a:solidFill>
            <a:prstDash val="solid"/>
          </a:ln>
          <a:effectLst>
            <a:outerShdw sx="100000" sy="100000" kx="0" ky="0" algn="bl" rotWithShape="0" blurRad="25400" dist="50800" dir="2700000">
              <a:srgbClr val="A6B4AC">
                <a:alpha val="14000"/>
              </a:srgbClr>
            </a:outerShdw>
          </a:effectLst>
        </p:spPr>
      </p:sp>
      <p:pic>
        <p:nvPicPr>
          <p:cNvPr id="6" name="Image 0" descr="/Users/yjsung/Desktop/SKALA/0908_AI_web_service/presentation/assets/image2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00013" y="1901952"/>
            <a:ext cx="4660510" cy="4169664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822960" y="1975104"/>
            <a:ext cx="822960" cy="27432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822960" y="1975104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5B4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학생 메인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8503920" y="2011680"/>
            <a:ext cx="2971800" cy="713232"/>
          </a:xfrm>
          <a:prstGeom prst="roundRect">
            <a:avLst>
              <a:gd name="adj" fmla="val 12821"/>
            </a:avLst>
          </a:prstGeom>
          <a:solidFill>
            <a:srgbClr val="FFFFFF"/>
          </a:solidFill>
          <a:ln w="12700">
            <a:solidFill>
              <a:srgbClr val="D8E1DC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8732520" y="2121408"/>
            <a:ext cx="685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5B4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개인화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9418320" y="2084832"/>
            <a:ext cx="182880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4755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내 층 학습기간과 현재 진행 과목만 표시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8503920" y="2926080"/>
            <a:ext cx="2971800" cy="713232"/>
          </a:xfrm>
          <a:prstGeom prst="roundRect">
            <a:avLst>
              <a:gd name="adj" fmla="val 12821"/>
            </a:avLst>
          </a:prstGeom>
          <a:solidFill>
            <a:srgbClr val="FFFFFF"/>
          </a:solidFill>
          <a:ln w="12700">
            <a:solidFill>
              <a:srgbClr val="D8E1DC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8732520" y="3035808"/>
            <a:ext cx="685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5B4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탐색</a:t>
            </a:r>
            <a:endParaRPr lang="en-US" sz="1100" dirty="0"/>
          </a:p>
        </p:txBody>
      </p:sp>
      <p:sp>
        <p:nvSpPr>
          <p:cNvPr id="14" name="Text 11"/>
          <p:cNvSpPr txBox="1"/>
          <p:nvPr/>
        </p:nvSpPr>
        <p:spPr>
          <a:xfrm>
            <a:off x="9418320" y="2999232"/>
            <a:ext cx="182880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4755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전체 과목을 상태·검색으로 빠르게 찾기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8503920" y="3840480"/>
            <a:ext cx="2971800" cy="713232"/>
          </a:xfrm>
          <a:prstGeom prst="roundRect">
            <a:avLst>
              <a:gd name="adj" fmla="val 12821"/>
            </a:avLst>
          </a:prstGeom>
          <a:solidFill>
            <a:srgbClr val="FDECE4"/>
          </a:solidFill>
          <a:ln w="12700">
            <a:solidFill>
              <a:srgbClr val="F5B695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732520" y="3950208"/>
            <a:ext cx="685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BC4D2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새 자료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9418320" y="3913632"/>
            <a:ext cx="182880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4755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최근 추가 자료를 상단 고정, 확인 시 회색 처리</a:t>
            </a:r>
            <a:endParaRPr lang="en-US" sz="1150" dirty="0"/>
          </a:p>
        </p:txBody>
      </p:sp>
      <p:sp>
        <p:nvSpPr>
          <p:cNvPr id="18" name="Shape 15"/>
          <p:cNvSpPr/>
          <p:nvPr/>
        </p:nvSpPr>
        <p:spPr>
          <a:xfrm>
            <a:off x="8503920" y="4754880"/>
            <a:ext cx="2971800" cy="713232"/>
          </a:xfrm>
          <a:prstGeom prst="roundRect">
            <a:avLst>
              <a:gd name="adj" fmla="val 12821"/>
            </a:avLst>
          </a:prstGeom>
          <a:solidFill>
            <a:srgbClr val="FFFFFF"/>
          </a:solidFill>
          <a:ln w="12700">
            <a:solidFill>
              <a:srgbClr val="D8E1DC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8732520" y="4864608"/>
            <a:ext cx="685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5B4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제어</a:t>
            </a:r>
            <a:endParaRPr lang="en-US" sz="1100" dirty="0"/>
          </a:p>
        </p:txBody>
      </p:sp>
      <p:sp>
        <p:nvSpPr>
          <p:cNvPr id="20" name="Text 17"/>
          <p:cNvSpPr txBox="1"/>
          <p:nvPr/>
        </p:nvSpPr>
        <p:spPr>
          <a:xfrm>
            <a:off x="9418320" y="4828032"/>
            <a:ext cx="182880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4755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항목별 숨김으로 알림 피로 최소화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28832" y="6473952"/>
            <a:ext cx="4572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7A8780"/>
                </a:solidFill>
                <a:latin typeface="Pretendard"/>
                <a:ea typeface="Pretendard"/>
                <a:cs typeface="Pretendard"/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777240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5775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 · COURSE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1024128"/>
            <a:ext cx="11018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7231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같은 과목도 역할에 따라 필요한 정보의 순서가 다릅니다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517904"/>
            <a:ext cx="10972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4755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학생에게는 최신 흐름, 교수님에게는 미해결 질문을 우선합니다.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58368" y="1920240"/>
            <a:ext cx="4983480" cy="4069080"/>
          </a:xfrm>
          <a:prstGeom prst="roundRect">
            <a:avLst>
              <a:gd name="adj" fmla="val 2247"/>
            </a:avLst>
          </a:prstGeom>
          <a:solidFill>
            <a:srgbClr val="FFFFFF"/>
          </a:solidFill>
          <a:ln w="12700">
            <a:solidFill>
              <a:srgbClr val="D8E1DC"/>
            </a:solidFill>
            <a:prstDash val="solid"/>
          </a:ln>
          <a:effectLst>
            <a:outerShdw sx="100000" sy="100000" kx="0" ky="0" algn="bl" rotWithShape="0" blurRad="25400" dist="50800" dir="2700000">
              <a:srgbClr val="A6B4AC">
                <a:alpha val="14000"/>
              </a:srgbClr>
            </a:outerShdw>
          </a:effectLst>
        </p:spPr>
      </p:sp>
      <p:pic>
        <p:nvPicPr>
          <p:cNvPr id="6" name="Image 0" descr="/Users/yjsung/Desktop/SKALA/0908_AI_web_service/presentation/assets/image2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1751" y="1993392"/>
            <a:ext cx="4776714" cy="3922776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822960" y="2066544"/>
            <a:ext cx="822960" cy="27432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822960" y="2066544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5B4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교수님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6565392" y="1920240"/>
            <a:ext cx="4983480" cy="4069080"/>
          </a:xfrm>
          <a:prstGeom prst="roundRect">
            <a:avLst>
              <a:gd name="adj" fmla="val 2247"/>
            </a:avLst>
          </a:prstGeom>
          <a:solidFill>
            <a:srgbClr val="FFFFFF"/>
          </a:solidFill>
          <a:ln w="12700">
            <a:solidFill>
              <a:srgbClr val="D8E1DC"/>
            </a:solidFill>
            <a:prstDash val="solid"/>
          </a:ln>
          <a:effectLst>
            <a:outerShdw sx="100000" sy="100000" kx="0" ky="0" algn="bl" rotWithShape="0" blurRad="25400" dist="50800" dir="2700000">
              <a:srgbClr val="A6B4AC">
                <a:alpha val="14000"/>
              </a:srgbClr>
            </a:outerShdw>
          </a:effectLst>
        </p:spPr>
      </p:sp>
      <p:pic>
        <p:nvPicPr>
          <p:cNvPr id="10" name="Image 1" descr="/Users/yjsung/Desktop/SKALA/0908_AI_web_service/presentation/assets/image26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56077" y="1993392"/>
            <a:ext cx="4802110" cy="3922776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6729984" y="2066544"/>
            <a:ext cx="822960" cy="27432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6729984" y="2066544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5B4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교육생</a:t>
            </a:r>
            <a:endParaRPr lang="en-US" sz="900" dirty="0"/>
          </a:p>
        </p:txBody>
      </p:sp>
      <p:sp>
        <p:nvSpPr>
          <p:cNvPr id="13" name="Shape 9"/>
          <p:cNvSpPr/>
          <p:nvPr/>
        </p:nvSpPr>
        <p:spPr>
          <a:xfrm>
            <a:off x="5715000" y="3886200"/>
            <a:ext cx="731520" cy="0"/>
          </a:xfrm>
          <a:prstGeom prst="line">
            <a:avLst/>
          </a:prstGeom>
          <a:noFill/>
          <a:ln w="19050">
            <a:solidFill>
              <a:srgbClr val="F17A42"/>
            </a:solidFill>
            <a:prstDash val="solid"/>
            <a:headEnd type="none"/>
            <a:tailEnd type="triangle"/>
          </a:ln>
        </p:spPr>
      </p:sp>
      <p:sp>
        <p:nvSpPr>
          <p:cNvPr id="14" name="Shape 10"/>
          <p:cNvSpPr/>
          <p:nvPr/>
        </p:nvSpPr>
        <p:spPr>
          <a:xfrm>
            <a:off x="5650992" y="3319272"/>
            <a:ext cx="841248" cy="274320"/>
          </a:xfrm>
          <a:prstGeom prst="roundRect">
            <a:avLst>
              <a:gd name="adj" fmla="val 26667"/>
            </a:avLst>
          </a:prstGeom>
          <a:solidFill>
            <a:srgbClr val="D7EF65"/>
          </a:solidFill>
          <a:ln w="12700">
            <a:solidFill>
              <a:srgbClr val="D7EF65"/>
            </a:solidFill>
            <a:prstDash val="solid"/>
          </a:ln>
        </p:spPr>
      </p:sp>
      <p:sp>
        <p:nvSpPr>
          <p:cNvPr id="15" name="Text 11"/>
          <p:cNvSpPr txBox="1"/>
          <p:nvPr/>
        </p:nvSpPr>
        <p:spPr>
          <a:xfrm>
            <a:off x="5650992" y="3319272"/>
            <a:ext cx="841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B332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ROLE BASED</a:t>
            </a:r>
            <a:endParaRPr lang="en-US" sz="900" dirty="0"/>
          </a:p>
        </p:txBody>
      </p:sp>
      <p:sp>
        <p:nvSpPr>
          <p:cNvPr id="16" name="Text 12"/>
          <p:cNvSpPr txBox="1"/>
          <p:nvPr/>
        </p:nvSpPr>
        <p:spPr>
          <a:xfrm>
            <a:off x="5687568" y="4224528"/>
            <a:ext cx="7132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4755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수업 배정은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4755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내 반 교수님만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28832" y="6473952"/>
            <a:ext cx="4572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7A8780"/>
                </a:solidFill>
                <a:latin typeface="Pretendard"/>
                <a:ea typeface="Pretendard"/>
                <a:cs typeface="Pretendard"/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777240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5775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 · Q&amp;A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1024128"/>
            <a:ext cx="11018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7231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답변의 신뢰도와 질문의 상태를 동시에 보여줍니다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517904"/>
            <a:ext cx="10972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4755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누구나 답변하되 교수님 답변을 먼저 보여주고, 작성자가 해결을 확정합니다.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961888" y="1828800"/>
            <a:ext cx="5577840" cy="4315968"/>
          </a:xfrm>
          <a:prstGeom prst="roundRect">
            <a:avLst>
              <a:gd name="adj" fmla="val 2119"/>
            </a:avLst>
          </a:prstGeom>
          <a:solidFill>
            <a:srgbClr val="FFFFFF"/>
          </a:solidFill>
          <a:ln w="12700">
            <a:solidFill>
              <a:srgbClr val="D8E1DC"/>
            </a:solidFill>
            <a:prstDash val="solid"/>
          </a:ln>
          <a:effectLst>
            <a:outerShdw sx="100000" sy="100000" kx="0" ky="0" algn="bl" rotWithShape="0" blurRad="25400" dist="50800" dir="2700000">
              <a:srgbClr val="A6B4AC">
                <a:alpha val="14000"/>
              </a:srgbClr>
            </a:outerShdw>
          </a:effectLst>
        </p:spPr>
      </p:sp>
      <p:pic>
        <p:nvPicPr>
          <p:cNvPr id="6" name="Image 0" descr="/Users/yjsung/Desktop/SKALA/0908_AI_web_service/presentation/assets/image1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29722" y="1901952"/>
            <a:ext cx="3842173" cy="4169664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6126480" y="1975104"/>
            <a:ext cx="822960" cy="27432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6126480" y="1975104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5B4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질문 상세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713232" y="2103120"/>
            <a:ext cx="292608" cy="292608"/>
          </a:xfrm>
          <a:prstGeom prst="ellipse">
            <a:avLst/>
          </a:prstGeom>
          <a:solidFill>
            <a:srgbClr val="0F5B45"/>
          </a:solidFill>
          <a:ln w="12700">
            <a:solidFill>
              <a:srgbClr val="0F5B45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713232" y="210312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</a:t>
            </a:r>
            <a:endParaRPr lang="en-US" sz="1000" dirty="0"/>
          </a:p>
        </p:txBody>
      </p:sp>
      <p:sp>
        <p:nvSpPr>
          <p:cNvPr id="11" name="Text 8"/>
          <p:cNvSpPr txBox="1"/>
          <p:nvPr/>
        </p:nvSpPr>
        <p:spPr>
          <a:xfrm>
            <a:off x="1170432" y="2057400"/>
            <a:ext cx="18288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7231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질문 등록</a:t>
            </a:r>
            <a:endParaRPr lang="en-US" sz="1800" dirty="0"/>
          </a:p>
        </p:txBody>
      </p:sp>
      <p:sp>
        <p:nvSpPr>
          <p:cNvPr id="12" name="Text 9"/>
          <p:cNvSpPr txBox="1"/>
          <p:nvPr/>
        </p:nvSpPr>
        <p:spPr>
          <a:xfrm>
            <a:off x="1170432" y="2450592"/>
            <a:ext cx="4069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과목 맥락과 함께 게시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859536" y="2606040"/>
            <a:ext cx="0" cy="438912"/>
          </a:xfrm>
          <a:prstGeom prst="line">
            <a:avLst/>
          </a:prstGeom>
          <a:noFill/>
          <a:ln w="19050">
            <a:solidFill>
              <a:srgbClr val="D8E1DC"/>
            </a:solidFill>
            <a:prstDash val="solid"/>
            <a:headEnd type="none"/>
            <a:tailEnd type="triangle"/>
          </a:ln>
        </p:spPr>
      </p:sp>
      <p:sp>
        <p:nvSpPr>
          <p:cNvPr id="14" name="Shape 11"/>
          <p:cNvSpPr/>
          <p:nvPr/>
        </p:nvSpPr>
        <p:spPr>
          <a:xfrm>
            <a:off x="713232" y="3246120"/>
            <a:ext cx="292608" cy="292608"/>
          </a:xfrm>
          <a:prstGeom prst="ellipse">
            <a:avLst/>
          </a:prstGeom>
          <a:solidFill>
            <a:srgbClr val="0F5B45"/>
          </a:solidFill>
          <a:ln w="12700">
            <a:solidFill>
              <a:srgbClr val="0F5B45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713232" y="324612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</a:t>
            </a:r>
            <a:endParaRPr lang="en-US" sz="1000" dirty="0"/>
          </a:p>
        </p:txBody>
      </p:sp>
      <p:sp>
        <p:nvSpPr>
          <p:cNvPr id="16" name="Text 13"/>
          <p:cNvSpPr txBox="1"/>
          <p:nvPr/>
        </p:nvSpPr>
        <p:spPr>
          <a:xfrm>
            <a:off x="1170432" y="3200400"/>
            <a:ext cx="18288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7231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답변 축적</a:t>
            </a:r>
            <a:endParaRPr lang="en-US" sz="1800" dirty="0"/>
          </a:p>
        </p:txBody>
      </p:sp>
      <p:sp>
        <p:nvSpPr>
          <p:cNvPr id="17" name="Text 14"/>
          <p:cNvSpPr txBox="1"/>
          <p:nvPr/>
        </p:nvSpPr>
        <p:spPr>
          <a:xfrm>
            <a:off x="1170432" y="3593592"/>
            <a:ext cx="4069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교수님 답변을 상단 고정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859536" y="3749040"/>
            <a:ext cx="0" cy="438912"/>
          </a:xfrm>
          <a:prstGeom prst="line">
            <a:avLst/>
          </a:prstGeom>
          <a:noFill/>
          <a:ln w="19050">
            <a:solidFill>
              <a:srgbClr val="D8E1DC"/>
            </a:solidFill>
            <a:prstDash val="solid"/>
            <a:headEnd type="none"/>
            <a:tailEnd type="triangle"/>
          </a:ln>
        </p:spPr>
      </p:sp>
      <p:sp>
        <p:nvSpPr>
          <p:cNvPr id="19" name="Shape 16"/>
          <p:cNvSpPr/>
          <p:nvPr/>
        </p:nvSpPr>
        <p:spPr>
          <a:xfrm>
            <a:off x="713232" y="4389120"/>
            <a:ext cx="292608" cy="292608"/>
          </a:xfrm>
          <a:prstGeom prst="ellipse">
            <a:avLst/>
          </a:prstGeom>
          <a:solidFill>
            <a:srgbClr val="F17A42"/>
          </a:solidFill>
          <a:ln w="12700">
            <a:solidFill>
              <a:srgbClr val="F17A42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713232" y="438912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</a:t>
            </a:r>
            <a:endParaRPr lang="en-US" sz="1000" dirty="0"/>
          </a:p>
        </p:txBody>
      </p:sp>
      <p:sp>
        <p:nvSpPr>
          <p:cNvPr id="21" name="Text 18"/>
          <p:cNvSpPr txBox="1"/>
          <p:nvPr/>
        </p:nvSpPr>
        <p:spPr>
          <a:xfrm>
            <a:off x="1170432" y="4343400"/>
            <a:ext cx="18288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7231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해결 처리</a:t>
            </a:r>
            <a:endParaRPr lang="en-US" sz="1800" dirty="0"/>
          </a:p>
        </p:txBody>
      </p:sp>
      <p:sp>
        <p:nvSpPr>
          <p:cNvPr id="22" name="Text 19"/>
          <p:cNvSpPr txBox="1"/>
          <p:nvPr/>
        </p:nvSpPr>
        <p:spPr>
          <a:xfrm>
            <a:off x="1170432" y="4736592"/>
            <a:ext cx="4069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질문 작성자가 해결됨으로 변경</a:t>
            </a:r>
            <a:endParaRPr lang="en-US" sz="1300" dirty="0"/>
          </a:p>
        </p:txBody>
      </p:sp>
      <p:sp>
        <p:nvSpPr>
          <p:cNvPr id="23" name="Shape 20"/>
          <p:cNvSpPr/>
          <p:nvPr/>
        </p:nvSpPr>
        <p:spPr>
          <a:xfrm>
            <a:off x="713232" y="5577840"/>
            <a:ext cx="1325880" cy="274320"/>
          </a:xfrm>
          <a:prstGeom prst="roundRect">
            <a:avLst>
              <a:gd name="adj" fmla="val 26667"/>
            </a:avLst>
          </a:prstGeom>
          <a:solidFill>
            <a:srgbClr val="E8F3ED"/>
          </a:solidFill>
          <a:ln w="12700">
            <a:solidFill>
              <a:srgbClr val="E8F3ED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713232" y="5577840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5B4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교수님 답변 우선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28832" y="6473952"/>
            <a:ext cx="4572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7A8780"/>
                </a:solidFill>
                <a:latin typeface="Pretendard"/>
                <a:ea typeface="Pretendard"/>
                <a:cs typeface="Pretendard"/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777240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5775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 · QUESTION CREATE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1024128"/>
            <a:ext cx="11018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7231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질문을 쓰는 순간, 이미 존재하는 답을 먼저 연결합니다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517904"/>
            <a:ext cx="10972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4755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중복 질문을 줄이고 기존 지식의 재사용률을 높입니다.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58368" y="1847088"/>
            <a:ext cx="5760720" cy="4315968"/>
          </a:xfrm>
          <a:prstGeom prst="roundRect">
            <a:avLst>
              <a:gd name="adj" fmla="val 2119"/>
            </a:avLst>
          </a:prstGeom>
          <a:solidFill>
            <a:srgbClr val="FFFFFF"/>
          </a:solidFill>
          <a:ln w="12700">
            <a:solidFill>
              <a:srgbClr val="D8E1DC"/>
            </a:solidFill>
            <a:prstDash val="solid"/>
          </a:ln>
          <a:effectLst>
            <a:outerShdw sx="100000" sy="100000" kx="0" ky="0" algn="bl" rotWithShape="0" blurRad="25400" dist="50800" dir="2700000">
              <a:srgbClr val="A6B4AC">
                <a:alpha val="14000"/>
              </a:srgbClr>
            </a:outerShdw>
          </a:effectLst>
        </p:spPr>
      </p:sp>
      <p:pic>
        <p:nvPicPr>
          <p:cNvPr id="6" name="Image 0" descr="/Users/yjsung/Desktop/SKALA/0908_AI_web_service/presentation/assets/image1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59931" y="1920240"/>
            <a:ext cx="4757594" cy="4169664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822960" y="1993392"/>
            <a:ext cx="822960" cy="27432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822960" y="199339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5B4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질문 작성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6766560" y="2103120"/>
            <a:ext cx="4709160" cy="3611880"/>
          </a:xfrm>
          <a:prstGeom prst="roundRect">
            <a:avLst>
              <a:gd name="adj" fmla="val 2532"/>
            </a:avLst>
          </a:prstGeom>
          <a:solidFill>
            <a:srgbClr val="0B3328"/>
          </a:solidFill>
          <a:ln w="12700">
            <a:solidFill>
              <a:srgbClr val="0B3328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7150608" y="2487168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유사 질문 추천</a:t>
            </a:r>
            <a:endParaRPr lang="en-US" sz="2200" dirty="0"/>
          </a:p>
        </p:txBody>
      </p:sp>
      <p:sp>
        <p:nvSpPr>
          <p:cNvPr id="11" name="Text 8"/>
          <p:cNvSpPr txBox="1"/>
          <p:nvPr/>
        </p:nvSpPr>
        <p:spPr>
          <a:xfrm>
            <a:off x="7150608" y="3182112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D7EF6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제목·본문 입력</a:t>
            </a:r>
            <a:endParaRPr lang="en-US" sz="1500" dirty="0"/>
          </a:p>
        </p:txBody>
      </p:sp>
      <p:sp>
        <p:nvSpPr>
          <p:cNvPr id="12" name="Shape 9"/>
          <p:cNvSpPr/>
          <p:nvPr/>
        </p:nvSpPr>
        <p:spPr>
          <a:xfrm>
            <a:off x="8613648" y="3346704"/>
            <a:ext cx="530352" cy="0"/>
          </a:xfrm>
          <a:prstGeom prst="line">
            <a:avLst/>
          </a:prstGeom>
          <a:noFill/>
          <a:ln w="19050">
            <a:solidFill>
              <a:srgbClr val="78AA98"/>
            </a:solidFill>
            <a:prstDash val="solid"/>
            <a:headEnd type="none"/>
            <a:tailEnd type="triangle"/>
          </a:ln>
        </p:spPr>
      </p:sp>
      <p:sp>
        <p:nvSpPr>
          <p:cNvPr id="13" name="Text 10"/>
          <p:cNvSpPr txBox="1"/>
          <p:nvPr/>
        </p:nvSpPr>
        <p:spPr>
          <a:xfrm>
            <a:off x="9253728" y="3182112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D7EF6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키워드 기반 탐색</a:t>
            </a:r>
            <a:endParaRPr lang="en-US" sz="1500" dirty="0"/>
          </a:p>
        </p:txBody>
      </p:sp>
      <p:sp>
        <p:nvSpPr>
          <p:cNvPr id="14" name="Shape 11"/>
          <p:cNvSpPr/>
          <p:nvPr/>
        </p:nvSpPr>
        <p:spPr>
          <a:xfrm>
            <a:off x="8869680" y="3840480"/>
            <a:ext cx="0" cy="411480"/>
          </a:xfrm>
          <a:prstGeom prst="line">
            <a:avLst/>
          </a:prstGeom>
          <a:noFill/>
          <a:ln w="19050">
            <a:solidFill>
              <a:srgbClr val="78AA98"/>
            </a:solidFill>
            <a:prstDash val="solid"/>
            <a:headEnd type="none"/>
            <a:tailEnd type="triangle"/>
          </a:ln>
        </p:spPr>
      </p:sp>
      <p:sp>
        <p:nvSpPr>
          <p:cNvPr id="15" name="Text 12"/>
          <p:cNvSpPr txBox="1"/>
          <p:nvPr/>
        </p:nvSpPr>
        <p:spPr>
          <a:xfrm>
            <a:off x="7571232" y="4407408"/>
            <a:ext cx="2606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5EFE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답이 있으면 바로 확인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E5EFE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없으면 새 질문 게시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28832" y="6473952"/>
            <a:ext cx="4572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7A8780"/>
                </a:solidFill>
                <a:latin typeface="Pretendard"/>
                <a:ea typeface="Pretendard"/>
                <a:cs typeface="Pretendard"/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777240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5775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 · SUPPLEMENT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1024128"/>
            <a:ext cx="11018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7231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수업의 빈틈은 짧은 보충 설명으로 다시 연결됩니다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517904"/>
            <a:ext cx="10972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4755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교수님이 맥락을 남기고 학생은 같은 화면에서 질문까지 이어갑니다.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58368" y="1965960"/>
            <a:ext cx="4983480" cy="1938528"/>
          </a:xfrm>
          <a:prstGeom prst="roundRect">
            <a:avLst>
              <a:gd name="adj" fmla="val 4717"/>
            </a:avLst>
          </a:prstGeom>
          <a:solidFill>
            <a:srgbClr val="FFFFFF"/>
          </a:solidFill>
          <a:ln w="12700">
            <a:solidFill>
              <a:srgbClr val="D8E1DC"/>
            </a:solidFill>
            <a:prstDash val="solid"/>
          </a:ln>
          <a:effectLst>
            <a:outerShdw sx="100000" sy="100000" kx="0" ky="0" algn="bl" rotWithShape="0" blurRad="25400" dist="50800" dir="2700000">
              <a:srgbClr val="A6B4AC">
                <a:alpha val="14000"/>
              </a:srgbClr>
            </a:outerShdw>
          </a:effectLst>
        </p:spPr>
      </p:sp>
      <p:pic>
        <p:nvPicPr>
          <p:cNvPr id="6" name="Image 0" descr="/Users/yjsung/Desktop/SKALA/0908_AI_web_service/presentation/assets/image9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2110142"/>
            <a:ext cx="4837176" cy="1650164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822960" y="2112264"/>
            <a:ext cx="1097280" cy="27432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822960" y="2112264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5B4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과목 내 보충 설명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5925312" y="1965960"/>
            <a:ext cx="5596128" cy="4041648"/>
          </a:xfrm>
          <a:prstGeom prst="roundRect">
            <a:avLst>
              <a:gd name="adj" fmla="val 2262"/>
            </a:avLst>
          </a:prstGeom>
          <a:solidFill>
            <a:srgbClr val="FFFFFF"/>
          </a:solidFill>
          <a:ln w="12700">
            <a:solidFill>
              <a:srgbClr val="D8E1DC"/>
            </a:solidFill>
            <a:prstDash val="solid"/>
          </a:ln>
          <a:effectLst>
            <a:outerShdw sx="100000" sy="100000" kx="0" ky="0" algn="bl" rotWithShape="0" blurRad="25400" dist="50800" dir="2700000">
              <a:srgbClr val="A6B4AC">
                <a:alpha val="14000"/>
              </a:srgbClr>
            </a:outerShdw>
          </a:effectLst>
        </p:spPr>
      </p:sp>
      <p:pic>
        <p:nvPicPr>
          <p:cNvPr id="10" name="Image 1" descr="/Users/yjsung/Desktop/SKALA/0908_AI_web_service/presentation/assets/image19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87297" y="2039112"/>
            <a:ext cx="3872157" cy="3895344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6089904" y="2112264"/>
            <a:ext cx="822960" cy="27432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6089904" y="2112264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5B4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상세 보기</a:t>
            </a:r>
            <a:endParaRPr lang="en-US" sz="900" dirty="0"/>
          </a:p>
        </p:txBody>
      </p:sp>
      <p:sp>
        <p:nvSpPr>
          <p:cNvPr id="13" name="Shape 9"/>
          <p:cNvSpPr/>
          <p:nvPr/>
        </p:nvSpPr>
        <p:spPr>
          <a:xfrm>
            <a:off x="749808" y="4224528"/>
            <a:ext cx="292608" cy="292608"/>
          </a:xfrm>
          <a:prstGeom prst="ellipse">
            <a:avLst/>
          </a:prstGeom>
          <a:solidFill>
            <a:srgbClr val="0F5B45"/>
          </a:solidFill>
          <a:ln w="12700">
            <a:solidFill>
              <a:srgbClr val="0F5B45"/>
            </a:solidFill>
            <a:prstDash val="solid"/>
          </a:ln>
        </p:spPr>
      </p:sp>
      <p:sp>
        <p:nvSpPr>
          <p:cNvPr id="14" name="Text 10"/>
          <p:cNvSpPr txBox="1"/>
          <p:nvPr/>
        </p:nvSpPr>
        <p:spPr>
          <a:xfrm>
            <a:off x="749808" y="422452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</a:t>
            </a:r>
            <a:endParaRPr lang="en-US" sz="1000" dirty="0"/>
          </a:p>
        </p:txBody>
      </p:sp>
      <p:sp>
        <p:nvSpPr>
          <p:cNvPr id="15" name="Text 11"/>
          <p:cNvSpPr txBox="1"/>
          <p:nvPr/>
        </p:nvSpPr>
        <p:spPr>
          <a:xfrm>
            <a:off x="1143000" y="4169664"/>
            <a:ext cx="1051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7231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교수님만 작성</a:t>
            </a:r>
            <a:endParaRPr lang="en-US" sz="1250" dirty="0"/>
          </a:p>
        </p:txBody>
      </p:sp>
      <p:sp>
        <p:nvSpPr>
          <p:cNvPr id="16" name="Text 12"/>
          <p:cNvSpPr txBox="1"/>
          <p:nvPr/>
        </p:nvSpPr>
        <p:spPr>
          <a:xfrm>
            <a:off x="2286000" y="4169664"/>
            <a:ext cx="3063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80" dirty="0">
                <a:solidFill>
                  <a:srgbClr val="4755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담당 과목에서 보충 설명 게시</a:t>
            </a:r>
            <a:endParaRPr lang="en-US" sz="1180" dirty="0"/>
          </a:p>
        </p:txBody>
      </p:sp>
      <p:sp>
        <p:nvSpPr>
          <p:cNvPr id="17" name="Shape 13"/>
          <p:cNvSpPr/>
          <p:nvPr/>
        </p:nvSpPr>
        <p:spPr>
          <a:xfrm>
            <a:off x="749808" y="4754880"/>
            <a:ext cx="292608" cy="292608"/>
          </a:xfrm>
          <a:prstGeom prst="ellipse">
            <a:avLst/>
          </a:prstGeom>
          <a:solidFill>
            <a:srgbClr val="0F5B45"/>
          </a:solidFill>
          <a:ln w="12700">
            <a:solidFill>
              <a:srgbClr val="0F5B45"/>
            </a:solidFill>
            <a:prstDash val="solid"/>
          </a:ln>
        </p:spPr>
      </p:sp>
      <p:sp>
        <p:nvSpPr>
          <p:cNvPr id="18" name="Text 14"/>
          <p:cNvSpPr txBox="1"/>
          <p:nvPr/>
        </p:nvSpPr>
        <p:spPr>
          <a:xfrm>
            <a:off x="749808" y="47548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</a:t>
            </a:r>
            <a:endParaRPr lang="en-US" sz="1000" dirty="0"/>
          </a:p>
        </p:txBody>
      </p:sp>
      <p:sp>
        <p:nvSpPr>
          <p:cNvPr id="19" name="Text 15"/>
          <p:cNvSpPr txBox="1"/>
          <p:nvPr/>
        </p:nvSpPr>
        <p:spPr>
          <a:xfrm>
            <a:off x="1143000" y="4700016"/>
            <a:ext cx="1051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7231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맥락 보존</a:t>
            </a:r>
            <a:endParaRPr lang="en-US" sz="1250" dirty="0"/>
          </a:p>
        </p:txBody>
      </p:sp>
      <p:sp>
        <p:nvSpPr>
          <p:cNvPr id="20" name="Text 16"/>
          <p:cNvSpPr txBox="1"/>
          <p:nvPr/>
        </p:nvSpPr>
        <p:spPr>
          <a:xfrm>
            <a:off x="2286000" y="4700016"/>
            <a:ext cx="3063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80" dirty="0">
                <a:solidFill>
                  <a:srgbClr val="4755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과목·작성자·공개 범위를 함께 저장</a:t>
            </a:r>
            <a:endParaRPr lang="en-US" sz="1180" dirty="0"/>
          </a:p>
        </p:txBody>
      </p:sp>
      <p:sp>
        <p:nvSpPr>
          <p:cNvPr id="21" name="Shape 17"/>
          <p:cNvSpPr/>
          <p:nvPr/>
        </p:nvSpPr>
        <p:spPr>
          <a:xfrm>
            <a:off x="749808" y="5285232"/>
            <a:ext cx="292608" cy="292608"/>
          </a:xfrm>
          <a:prstGeom prst="ellipse">
            <a:avLst/>
          </a:prstGeom>
          <a:solidFill>
            <a:srgbClr val="F17A42"/>
          </a:solidFill>
          <a:ln w="12700">
            <a:solidFill>
              <a:srgbClr val="F17A42"/>
            </a:solidFill>
            <a:prstDash val="solid"/>
          </a:ln>
        </p:spPr>
      </p:sp>
      <p:sp>
        <p:nvSpPr>
          <p:cNvPr id="22" name="Text 18"/>
          <p:cNvSpPr txBox="1"/>
          <p:nvPr/>
        </p:nvSpPr>
        <p:spPr>
          <a:xfrm>
            <a:off x="749808" y="528523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</a:t>
            </a:r>
            <a:endParaRPr lang="en-US" sz="1000" dirty="0"/>
          </a:p>
        </p:txBody>
      </p:sp>
      <p:sp>
        <p:nvSpPr>
          <p:cNvPr id="23" name="Text 19"/>
          <p:cNvSpPr txBox="1"/>
          <p:nvPr/>
        </p:nvSpPr>
        <p:spPr>
          <a:xfrm>
            <a:off x="1143000" y="5230368"/>
            <a:ext cx="1051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7231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질문 연결</a:t>
            </a:r>
            <a:endParaRPr lang="en-US" sz="1250" dirty="0"/>
          </a:p>
        </p:txBody>
      </p:sp>
      <p:sp>
        <p:nvSpPr>
          <p:cNvPr id="24" name="Text 20"/>
          <p:cNvSpPr txBox="1"/>
          <p:nvPr/>
        </p:nvSpPr>
        <p:spPr>
          <a:xfrm>
            <a:off x="2286000" y="5230368"/>
            <a:ext cx="3063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80" dirty="0">
                <a:solidFill>
                  <a:srgbClr val="4755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이해되지 않는 지점은 즉시 Q&amp;A로 이동</a:t>
            </a:r>
            <a:endParaRPr lang="en-US" sz="118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28832" y="6473952"/>
            <a:ext cx="4572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7A8780"/>
                </a:solidFill>
                <a:latin typeface="Pretendard"/>
                <a:ea typeface="Pretendard"/>
                <a:cs typeface="Pretendard"/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777240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5775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 · PUBLISHING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1024128"/>
            <a:ext cx="11018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7231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공개 범위는 배정 정보에서 자동으로 제한됩니다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517904"/>
            <a:ext cx="10972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4755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잘못된 반에 자료를 보내지 않도록 선택지를 권한별로 제공합니다.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58368" y="1947672"/>
            <a:ext cx="3246120" cy="3182112"/>
          </a:xfrm>
          <a:prstGeom prst="roundRect">
            <a:avLst>
              <a:gd name="adj" fmla="val 2874"/>
            </a:avLst>
          </a:prstGeom>
          <a:solidFill>
            <a:srgbClr val="FFFFFF"/>
          </a:solidFill>
          <a:ln w="12700">
            <a:solidFill>
              <a:srgbClr val="D8E1DC"/>
            </a:solidFill>
            <a:prstDash val="solid"/>
          </a:ln>
          <a:effectLst>
            <a:outerShdw sx="100000" sy="100000" kx="0" ky="0" algn="bl" rotWithShape="0" blurRad="25400" dist="50800" dir="2700000">
              <a:srgbClr val="A6B4AC">
                <a:alpha val="14000"/>
              </a:srgbClr>
            </a:outerShdw>
          </a:effectLst>
        </p:spPr>
      </p:sp>
      <p:pic>
        <p:nvPicPr>
          <p:cNvPr id="6" name="Image 0" descr="/Users/yjsung/Desktop/SKALA/0908_AI_web_service/presentation/assets/image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2644966"/>
            <a:ext cx="3099816" cy="1787525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822960" y="2093976"/>
            <a:ext cx="822960" cy="27432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822960" y="2093976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5B4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작성 화면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4133088" y="1947672"/>
            <a:ext cx="3401568" cy="3182112"/>
          </a:xfrm>
          <a:prstGeom prst="roundRect">
            <a:avLst>
              <a:gd name="adj" fmla="val 2874"/>
            </a:avLst>
          </a:prstGeom>
          <a:solidFill>
            <a:srgbClr val="FFFFFF"/>
          </a:solidFill>
          <a:ln w="12700">
            <a:solidFill>
              <a:srgbClr val="D8E1DC"/>
            </a:solidFill>
            <a:prstDash val="solid"/>
          </a:ln>
          <a:effectLst>
            <a:outerShdw sx="100000" sy="100000" kx="0" ky="0" algn="bl" rotWithShape="0" blurRad="25400" dist="50800" dir="2700000">
              <a:srgbClr val="A6B4AC">
                <a:alpha val="14000"/>
              </a:srgbClr>
            </a:outerShdw>
          </a:effectLst>
        </p:spPr>
      </p:sp>
      <p:pic>
        <p:nvPicPr>
          <p:cNvPr id="10" name="Image 1" descr="/Users/yjsung/Desktop/SKALA/0908_AI_web_service/presentation/assets/image1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06240" y="2235576"/>
            <a:ext cx="3255264" cy="2606305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4297680" y="2093976"/>
            <a:ext cx="822960" cy="27432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4297680" y="2093976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5B4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전임 교수님</a:t>
            </a:r>
            <a:endParaRPr lang="en-US" sz="900" dirty="0"/>
          </a:p>
        </p:txBody>
      </p:sp>
      <p:sp>
        <p:nvSpPr>
          <p:cNvPr id="13" name="Shape 9"/>
          <p:cNvSpPr/>
          <p:nvPr/>
        </p:nvSpPr>
        <p:spPr>
          <a:xfrm>
            <a:off x="7763256" y="1947672"/>
            <a:ext cx="3758184" cy="3182112"/>
          </a:xfrm>
          <a:prstGeom prst="roundRect">
            <a:avLst>
              <a:gd name="adj" fmla="val 2874"/>
            </a:avLst>
          </a:prstGeom>
          <a:solidFill>
            <a:srgbClr val="FFFFFF"/>
          </a:solidFill>
          <a:ln w="12700">
            <a:solidFill>
              <a:srgbClr val="D8E1DC"/>
            </a:solidFill>
            <a:prstDash val="solid"/>
          </a:ln>
          <a:effectLst>
            <a:outerShdw sx="100000" sy="100000" kx="0" ky="0" algn="bl" rotWithShape="0" blurRad="25400" dist="50800" dir="2700000">
              <a:srgbClr val="A6B4AC">
                <a:alpha val="14000"/>
              </a:srgbClr>
            </a:outerShdw>
          </a:effectLst>
        </p:spPr>
      </p:sp>
      <p:pic>
        <p:nvPicPr>
          <p:cNvPr id="14" name="Image 2" descr="/Users/yjsung/Desktop/SKALA/0908_AI_web_service/presentation/assets/image4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36408" y="3055273"/>
            <a:ext cx="3611880" cy="966911"/>
          </a:xfrm>
          <a:prstGeom prst="rect">
            <a:avLst/>
          </a:prstGeom>
        </p:spPr>
      </p:pic>
      <p:sp>
        <p:nvSpPr>
          <p:cNvPr id="15" name="Shape 10"/>
          <p:cNvSpPr/>
          <p:nvPr/>
        </p:nvSpPr>
        <p:spPr>
          <a:xfrm>
            <a:off x="7927848" y="2093976"/>
            <a:ext cx="822960" cy="27432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Text 11"/>
          <p:cNvSpPr txBox="1"/>
          <p:nvPr/>
        </p:nvSpPr>
        <p:spPr>
          <a:xfrm>
            <a:off x="7927848" y="2093976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5B4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실습 교수님</a:t>
            </a:r>
            <a:endParaRPr lang="en-US" sz="900" dirty="0"/>
          </a:p>
        </p:txBody>
      </p:sp>
      <p:sp>
        <p:nvSpPr>
          <p:cNvPr id="17" name="Shape 12"/>
          <p:cNvSpPr/>
          <p:nvPr/>
        </p:nvSpPr>
        <p:spPr>
          <a:xfrm>
            <a:off x="658368" y="5440680"/>
            <a:ext cx="868680" cy="274320"/>
          </a:xfrm>
          <a:prstGeom prst="roundRect">
            <a:avLst>
              <a:gd name="adj" fmla="val 26667"/>
            </a:avLst>
          </a:prstGeom>
          <a:solidFill>
            <a:srgbClr val="FDECE4"/>
          </a:solidFill>
          <a:ln w="12700">
            <a:solidFill>
              <a:srgbClr val="FDECE4"/>
            </a:solidFill>
            <a:prstDash val="solid"/>
          </a:ln>
        </p:spPr>
      </p:sp>
      <p:sp>
        <p:nvSpPr>
          <p:cNvPr id="18" name="Text 13"/>
          <p:cNvSpPr txBox="1"/>
          <p:nvPr/>
        </p:nvSpPr>
        <p:spPr>
          <a:xfrm>
            <a:off x="658368" y="5440680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17A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전체 학생</a:t>
            </a:r>
            <a:endParaRPr lang="en-US" sz="900" dirty="0"/>
          </a:p>
        </p:txBody>
      </p:sp>
      <p:sp>
        <p:nvSpPr>
          <p:cNvPr id="19" name="Shape 14"/>
          <p:cNvSpPr/>
          <p:nvPr/>
        </p:nvSpPr>
        <p:spPr>
          <a:xfrm>
            <a:off x="1618488" y="5440680"/>
            <a:ext cx="868680" cy="274320"/>
          </a:xfrm>
          <a:prstGeom prst="roundRect">
            <a:avLst>
              <a:gd name="adj" fmla="val 26667"/>
            </a:avLst>
          </a:prstGeom>
          <a:solidFill>
            <a:srgbClr val="E8F3ED"/>
          </a:solidFill>
          <a:ln w="12700">
            <a:solidFill>
              <a:srgbClr val="E8F3ED"/>
            </a:solidFill>
            <a:prstDash val="solid"/>
          </a:ln>
        </p:spPr>
      </p:sp>
      <p:sp>
        <p:nvSpPr>
          <p:cNvPr id="20" name="Text 15"/>
          <p:cNvSpPr txBox="1"/>
          <p:nvPr/>
        </p:nvSpPr>
        <p:spPr>
          <a:xfrm>
            <a:off x="1618488" y="5440680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5B4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층</a:t>
            </a:r>
            <a:endParaRPr lang="en-US" sz="900" dirty="0"/>
          </a:p>
        </p:txBody>
      </p:sp>
      <p:sp>
        <p:nvSpPr>
          <p:cNvPr id="21" name="Shape 16"/>
          <p:cNvSpPr/>
          <p:nvPr/>
        </p:nvSpPr>
        <p:spPr>
          <a:xfrm>
            <a:off x="2578608" y="5440680"/>
            <a:ext cx="868680" cy="274320"/>
          </a:xfrm>
          <a:prstGeom prst="roundRect">
            <a:avLst>
              <a:gd name="adj" fmla="val 26667"/>
            </a:avLst>
          </a:prstGeom>
          <a:solidFill>
            <a:srgbClr val="E8F3ED"/>
          </a:solidFill>
          <a:ln w="12700">
            <a:solidFill>
              <a:srgbClr val="E8F3ED"/>
            </a:solidFill>
            <a:prstDash val="solid"/>
          </a:ln>
        </p:spPr>
      </p:sp>
      <p:sp>
        <p:nvSpPr>
          <p:cNvPr id="22" name="Text 17"/>
          <p:cNvSpPr txBox="1"/>
          <p:nvPr/>
        </p:nvSpPr>
        <p:spPr>
          <a:xfrm>
            <a:off x="2578608" y="5440680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5B4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담당 반</a:t>
            </a:r>
            <a:endParaRPr lang="en-US" sz="900" dirty="0"/>
          </a:p>
        </p:txBody>
      </p:sp>
      <p:sp>
        <p:nvSpPr>
          <p:cNvPr id="23" name="Shape 18"/>
          <p:cNvSpPr/>
          <p:nvPr/>
        </p:nvSpPr>
        <p:spPr>
          <a:xfrm>
            <a:off x="4133088" y="5440680"/>
            <a:ext cx="868680" cy="274320"/>
          </a:xfrm>
          <a:prstGeom prst="roundRect">
            <a:avLst>
              <a:gd name="adj" fmla="val 26667"/>
            </a:avLst>
          </a:prstGeom>
          <a:solidFill>
            <a:srgbClr val="FDECE4"/>
          </a:solidFill>
          <a:ln w="12700">
            <a:solidFill>
              <a:srgbClr val="FDECE4"/>
            </a:solidFill>
            <a:prstDash val="solid"/>
          </a:ln>
        </p:spPr>
      </p:sp>
      <p:sp>
        <p:nvSpPr>
          <p:cNvPr id="24" name="Text 19"/>
          <p:cNvSpPr txBox="1"/>
          <p:nvPr/>
        </p:nvSpPr>
        <p:spPr>
          <a:xfrm>
            <a:off x="4133088" y="5440680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17A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전체 학생</a:t>
            </a:r>
            <a:endParaRPr lang="en-US" sz="900" dirty="0"/>
          </a:p>
        </p:txBody>
      </p:sp>
      <p:sp>
        <p:nvSpPr>
          <p:cNvPr id="25" name="Shape 20"/>
          <p:cNvSpPr/>
          <p:nvPr/>
        </p:nvSpPr>
        <p:spPr>
          <a:xfrm>
            <a:off x="5093208" y="5440680"/>
            <a:ext cx="868680" cy="274320"/>
          </a:xfrm>
          <a:prstGeom prst="roundRect">
            <a:avLst>
              <a:gd name="adj" fmla="val 26667"/>
            </a:avLst>
          </a:prstGeom>
          <a:solidFill>
            <a:srgbClr val="E8F3ED"/>
          </a:solidFill>
          <a:ln w="12700">
            <a:solidFill>
              <a:srgbClr val="E8F3ED"/>
            </a:solidFill>
            <a:prstDash val="solid"/>
          </a:ln>
        </p:spPr>
      </p:sp>
      <p:sp>
        <p:nvSpPr>
          <p:cNvPr id="26" name="Text 21"/>
          <p:cNvSpPr txBox="1"/>
          <p:nvPr/>
        </p:nvSpPr>
        <p:spPr>
          <a:xfrm>
            <a:off x="5093208" y="5440680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5B4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4층</a:t>
            </a:r>
            <a:endParaRPr lang="en-US" sz="900" dirty="0"/>
          </a:p>
        </p:txBody>
      </p:sp>
      <p:sp>
        <p:nvSpPr>
          <p:cNvPr id="27" name="Shape 22"/>
          <p:cNvSpPr/>
          <p:nvPr/>
        </p:nvSpPr>
        <p:spPr>
          <a:xfrm>
            <a:off x="6053328" y="5440680"/>
            <a:ext cx="868680" cy="274320"/>
          </a:xfrm>
          <a:prstGeom prst="roundRect">
            <a:avLst>
              <a:gd name="adj" fmla="val 26667"/>
            </a:avLst>
          </a:prstGeom>
          <a:solidFill>
            <a:srgbClr val="E8F3ED"/>
          </a:solidFill>
          <a:ln w="12700">
            <a:solidFill>
              <a:srgbClr val="E8F3ED"/>
            </a:solidFill>
            <a:prstDash val="solid"/>
          </a:ln>
        </p:spPr>
      </p:sp>
      <p:sp>
        <p:nvSpPr>
          <p:cNvPr id="28" name="Text 23"/>
          <p:cNvSpPr txBox="1"/>
          <p:nvPr/>
        </p:nvSpPr>
        <p:spPr>
          <a:xfrm>
            <a:off x="6053328" y="5440680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5B4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5층</a:t>
            </a:r>
            <a:endParaRPr lang="en-US" sz="900" dirty="0"/>
          </a:p>
        </p:txBody>
      </p:sp>
      <p:sp>
        <p:nvSpPr>
          <p:cNvPr id="29" name="Shape 24"/>
          <p:cNvSpPr/>
          <p:nvPr/>
        </p:nvSpPr>
        <p:spPr>
          <a:xfrm>
            <a:off x="7763256" y="5440680"/>
            <a:ext cx="1033272" cy="274320"/>
          </a:xfrm>
          <a:prstGeom prst="roundRect">
            <a:avLst>
              <a:gd name="adj" fmla="val 26667"/>
            </a:avLst>
          </a:prstGeom>
          <a:solidFill>
            <a:srgbClr val="FDECE4"/>
          </a:solidFill>
          <a:ln w="12700">
            <a:solidFill>
              <a:srgbClr val="FDECE4"/>
            </a:solidFill>
            <a:prstDash val="solid"/>
          </a:ln>
        </p:spPr>
      </p:sp>
      <p:sp>
        <p:nvSpPr>
          <p:cNvPr id="30" name="Text 25"/>
          <p:cNvSpPr txBox="1"/>
          <p:nvPr/>
        </p:nvSpPr>
        <p:spPr>
          <a:xfrm>
            <a:off x="7763256" y="5440680"/>
            <a:ext cx="10332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17A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전체 학생</a:t>
            </a:r>
            <a:endParaRPr lang="en-US" sz="900" dirty="0"/>
          </a:p>
        </p:txBody>
      </p:sp>
      <p:sp>
        <p:nvSpPr>
          <p:cNvPr id="31" name="Shape 26"/>
          <p:cNvSpPr/>
          <p:nvPr/>
        </p:nvSpPr>
        <p:spPr>
          <a:xfrm>
            <a:off x="8887968" y="5440680"/>
            <a:ext cx="1033272" cy="274320"/>
          </a:xfrm>
          <a:prstGeom prst="roundRect">
            <a:avLst>
              <a:gd name="adj" fmla="val 26667"/>
            </a:avLst>
          </a:prstGeom>
          <a:solidFill>
            <a:srgbClr val="E8F3ED"/>
          </a:solidFill>
          <a:ln w="12700">
            <a:solidFill>
              <a:srgbClr val="E8F3ED"/>
            </a:solidFill>
            <a:prstDash val="solid"/>
          </a:ln>
        </p:spPr>
      </p:sp>
      <p:sp>
        <p:nvSpPr>
          <p:cNvPr id="32" name="Text 27"/>
          <p:cNvSpPr txBox="1"/>
          <p:nvPr/>
        </p:nvSpPr>
        <p:spPr>
          <a:xfrm>
            <a:off x="8887968" y="5440680"/>
            <a:ext cx="10332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5B4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담당 층</a:t>
            </a:r>
            <a:endParaRPr lang="en-US" sz="900" dirty="0"/>
          </a:p>
        </p:txBody>
      </p:sp>
      <p:sp>
        <p:nvSpPr>
          <p:cNvPr id="33" name="Shape 28"/>
          <p:cNvSpPr/>
          <p:nvPr/>
        </p:nvSpPr>
        <p:spPr>
          <a:xfrm>
            <a:off x="10012680" y="5440680"/>
            <a:ext cx="1033272" cy="274320"/>
          </a:xfrm>
          <a:prstGeom prst="roundRect">
            <a:avLst>
              <a:gd name="adj" fmla="val 26667"/>
            </a:avLst>
          </a:prstGeom>
          <a:solidFill>
            <a:srgbClr val="E8F3ED"/>
          </a:solidFill>
          <a:ln w="12700">
            <a:solidFill>
              <a:srgbClr val="E8F3ED"/>
            </a:solidFill>
            <a:prstDash val="solid"/>
          </a:ln>
        </p:spPr>
      </p:sp>
      <p:sp>
        <p:nvSpPr>
          <p:cNvPr id="34" name="Text 29"/>
          <p:cNvSpPr txBox="1"/>
          <p:nvPr/>
        </p:nvSpPr>
        <p:spPr>
          <a:xfrm>
            <a:off x="10012680" y="5440680"/>
            <a:ext cx="10332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5B4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담당 반</a:t>
            </a:r>
            <a:endParaRPr lang="en-US" sz="900" dirty="0"/>
          </a:p>
        </p:txBody>
      </p:sp>
      <p:sp>
        <p:nvSpPr>
          <p:cNvPr id="35" name="Text 30"/>
          <p:cNvSpPr txBox="1"/>
          <p:nvPr/>
        </p:nvSpPr>
        <p:spPr>
          <a:xfrm>
            <a:off x="3401568" y="5989320"/>
            <a:ext cx="5349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5B4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노출 판단 = 게시 범위 × 학생의 반·층 정보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28832" y="6473952"/>
            <a:ext cx="4572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7A8780"/>
                </a:solidFill>
                <a:latin typeface="Pretendard"/>
                <a:ea typeface="Pretendard"/>
                <a:cs typeface="Pretendard"/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777240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5775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 · MATERIALS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1024128"/>
            <a:ext cx="11018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7231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파일을 올리는 순간부터 “최신본”을 관리합니다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517904"/>
            <a:ext cx="10972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4755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여러 파일·설명·공개 범위를 묶고, 전임 교수님 자료를 먼저 보여줍니다.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58368" y="1993392"/>
            <a:ext cx="4864608" cy="2953512"/>
          </a:xfrm>
          <a:prstGeom prst="roundRect">
            <a:avLst>
              <a:gd name="adj" fmla="val 3096"/>
            </a:avLst>
          </a:prstGeom>
          <a:solidFill>
            <a:srgbClr val="FFFFFF"/>
          </a:solidFill>
          <a:ln w="12700">
            <a:solidFill>
              <a:srgbClr val="D8E1DC"/>
            </a:solidFill>
            <a:prstDash val="solid"/>
          </a:ln>
          <a:effectLst>
            <a:outerShdw sx="100000" sy="100000" kx="0" ky="0" algn="bl" rotWithShape="0" blurRad="25400" dist="50800" dir="2700000">
              <a:srgbClr val="A6B4AC">
                <a:alpha val="14000"/>
              </a:srgbClr>
            </a:outerShdw>
          </a:effectLst>
        </p:spPr>
      </p:sp>
      <p:pic>
        <p:nvPicPr>
          <p:cNvPr id="6" name="Image 0" descr="/Users/yjsung/Desktop/SKALA/0908_AI_web_service/presentation/assets/image1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4211" y="2066544"/>
            <a:ext cx="4632923" cy="2807208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822960" y="2139696"/>
            <a:ext cx="877824" cy="27432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822960" y="2139696"/>
            <a:ext cx="8778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5B4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학습 자료 목록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5806440" y="1993392"/>
            <a:ext cx="5715000" cy="4023360"/>
          </a:xfrm>
          <a:prstGeom prst="roundRect">
            <a:avLst>
              <a:gd name="adj" fmla="val 2273"/>
            </a:avLst>
          </a:prstGeom>
          <a:solidFill>
            <a:srgbClr val="FFFFFF"/>
          </a:solidFill>
          <a:ln w="12700">
            <a:solidFill>
              <a:srgbClr val="D8E1DC"/>
            </a:solidFill>
            <a:prstDash val="solid"/>
          </a:ln>
          <a:effectLst>
            <a:outerShdw sx="100000" sy="100000" kx="0" ky="0" algn="bl" rotWithShape="0" blurRad="25400" dist="50800" dir="2700000">
              <a:srgbClr val="A6B4AC">
                <a:alpha val="14000"/>
              </a:srgbClr>
            </a:outerShdw>
          </a:effectLst>
        </p:spPr>
      </p:sp>
      <p:pic>
        <p:nvPicPr>
          <p:cNvPr id="10" name="Image 1" descr="/Users/yjsung/Desktop/SKALA/0908_AI_web_service/presentation/assets/image23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0946" y="2066544"/>
            <a:ext cx="4165987" cy="3877056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5971032" y="2139696"/>
            <a:ext cx="822960" cy="27432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5971032" y="2139696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5B4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새 학습 자료</a:t>
            </a:r>
            <a:endParaRPr lang="en-US" sz="900" dirty="0"/>
          </a:p>
        </p:txBody>
      </p:sp>
      <p:sp>
        <p:nvSpPr>
          <p:cNvPr id="13" name="Shape 9"/>
          <p:cNvSpPr/>
          <p:nvPr/>
        </p:nvSpPr>
        <p:spPr>
          <a:xfrm>
            <a:off x="713232" y="5285232"/>
            <a:ext cx="1417320" cy="274320"/>
          </a:xfrm>
          <a:prstGeom prst="roundRect">
            <a:avLst>
              <a:gd name="adj" fmla="val 26667"/>
            </a:avLst>
          </a:prstGeom>
          <a:solidFill>
            <a:srgbClr val="E8F3ED"/>
          </a:solidFill>
          <a:ln w="12700">
            <a:solidFill>
              <a:srgbClr val="E8F3ED"/>
            </a:solidFill>
            <a:prstDash val="solid"/>
          </a:ln>
        </p:spPr>
      </p:sp>
      <p:sp>
        <p:nvSpPr>
          <p:cNvPr id="14" name="Text 10"/>
          <p:cNvSpPr txBox="1"/>
          <p:nvPr/>
        </p:nvSpPr>
        <p:spPr>
          <a:xfrm>
            <a:off x="713232" y="5285232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5B4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여러 파일 업로드</a:t>
            </a:r>
            <a:endParaRPr lang="en-US" sz="900" dirty="0"/>
          </a:p>
        </p:txBody>
      </p:sp>
      <p:sp>
        <p:nvSpPr>
          <p:cNvPr id="15" name="Shape 11"/>
          <p:cNvSpPr/>
          <p:nvPr/>
        </p:nvSpPr>
        <p:spPr>
          <a:xfrm>
            <a:off x="2286000" y="5285232"/>
            <a:ext cx="1417320" cy="274320"/>
          </a:xfrm>
          <a:prstGeom prst="roundRect">
            <a:avLst>
              <a:gd name="adj" fmla="val 26667"/>
            </a:avLst>
          </a:prstGeom>
          <a:solidFill>
            <a:srgbClr val="E8F3ED"/>
          </a:solidFill>
          <a:ln w="12700">
            <a:solidFill>
              <a:srgbClr val="E8F3ED"/>
            </a:solidFill>
            <a:prstDash val="solid"/>
          </a:ln>
        </p:spPr>
      </p:sp>
      <p:sp>
        <p:nvSpPr>
          <p:cNvPr id="16" name="Text 12"/>
          <p:cNvSpPr txBox="1"/>
          <p:nvPr/>
        </p:nvSpPr>
        <p:spPr>
          <a:xfrm>
            <a:off x="2286000" y="5285232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5B4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전임 자료 우선</a:t>
            </a:r>
            <a:endParaRPr lang="en-US" sz="900" dirty="0"/>
          </a:p>
        </p:txBody>
      </p:sp>
      <p:sp>
        <p:nvSpPr>
          <p:cNvPr id="17" name="Shape 13"/>
          <p:cNvSpPr/>
          <p:nvPr/>
        </p:nvSpPr>
        <p:spPr>
          <a:xfrm>
            <a:off x="3858768" y="5285232"/>
            <a:ext cx="1417320" cy="274320"/>
          </a:xfrm>
          <a:prstGeom prst="roundRect">
            <a:avLst>
              <a:gd name="adj" fmla="val 26667"/>
            </a:avLst>
          </a:prstGeom>
          <a:solidFill>
            <a:srgbClr val="FDECE4"/>
          </a:solidFill>
          <a:ln w="12700">
            <a:solidFill>
              <a:srgbClr val="FDECE4"/>
            </a:solidFill>
            <a:prstDash val="solid"/>
          </a:ln>
        </p:spPr>
      </p:sp>
      <p:sp>
        <p:nvSpPr>
          <p:cNvPr id="18" name="Text 14"/>
          <p:cNvSpPr txBox="1"/>
          <p:nvPr/>
        </p:nvSpPr>
        <p:spPr>
          <a:xfrm>
            <a:off x="3858768" y="5285232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17A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미확인 최신본 강조</a:t>
            </a:r>
            <a:endParaRPr lang="en-US" sz="900" dirty="0"/>
          </a:p>
        </p:txBody>
      </p:sp>
      <p:sp>
        <p:nvSpPr>
          <p:cNvPr id="19" name="Text 15"/>
          <p:cNvSpPr txBox="1"/>
          <p:nvPr/>
        </p:nvSpPr>
        <p:spPr>
          <a:xfrm>
            <a:off x="731520" y="5779008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73807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※ 실제 저장은 multipart/form-data 기반 파일 업로드 API로 설계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28832" y="6473952"/>
            <a:ext cx="4572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7A8780"/>
                </a:solidFill>
                <a:latin typeface="Pretendard"/>
                <a:ea typeface="Pretendard"/>
                <a:cs typeface="Pretendard"/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777240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5775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 · VERSIONING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1024128"/>
            <a:ext cx="11018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7231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새 파일이 아니라, 변경의 이력이 남습니다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517904"/>
            <a:ext cx="10972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4755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원 작성자만 새 버전을 올리고 학생은 버전별 파일과 변경 내용을 비교합니다.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58368" y="1956816"/>
            <a:ext cx="2514600" cy="3154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8E1DC"/>
            </a:solidFill>
            <a:prstDash val="solid"/>
          </a:ln>
          <a:effectLst>
            <a:outerShdw sx="100000" sy="100000" kx="0" ky="0" algn="bl" rotWithShape="0" blurRad="25400" dist="50800" dir="2700000">
              <a:srgbClr val="A6B4AC">
                <a:alpha val="14000"/>
              </a:srgbClr>
            </a:outerShdw>
          </a:effectLst>
        </p:spPr>
      </p:sp>
      <p:pic>
        <p:nvPicPr>
          <p:cNvPr id="6" name="Image 0" descr="/Users/yjsung/Desktop/SKALA/0908_AI_web_service/presentation/assets/image2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2328799"/>
            <a:ext cx="2368296" cy="2410713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822960" y="2103120"/>
            <a:ext cx="822960" cy="27432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822960" y="210312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5B4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자료 상세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3364992" y="1956816"/>
            <a:ext cx="2514600" cy="19202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D8E1DC"/>
            </a:solidFill>
            <a:prstDash val="solid"/>
          </a:ln>
          <a:effectLst>
            <a:outerShdw sx="100000" sy="100000" kx="0" ky="0" algn="bl" rotWithShape="0" blurRad="25400" dist="50800" dir="2700000">
              <a:srgbClr val="A6B4AC">
                <a:alpha val="14000"/>
              </a:srgbClr>
            </a:outerShdw>
          </a:effectLst>
        </p:spPr>
      </p:sp>
      <p:pic>
        <p:nvPicPr>
          <p:cNvPr id="10" name="Image 1" descr="/Users/yjsung/Desktop/SKALA/0908_AI_web_service/presentation/assets/image16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38144" y="2395047"/>
            <a:ext cx="2368296" cy="1043778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3529584" y="2103120"/>
            <a:ext cx="822960" cy="27432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3529584" y="210312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5B4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다운로드</a:t>
            </a:r>
            <a:endParaRPr lang="en-US" sz="900" dirty="0"/>
          </a:p>
        </p:txBody>
      </p:sp>
      <p:sp>
        <p:nvSpPr>
          <p:cNvPr id="13" name="Shape 9"/>
          <p:cNvSpPr/>
          <p:nvPr/>
        </p:nvSpPr>
        <p:spPr>
          <a:xfrm>
            <a:off x="6080760" y="1956816"/>
            <a:ext cx="2514600" cy="3154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8E1DC"/>
            </a:solidFill>
            <a:prstDash val="solid"/>
          </a:ln>
          <a:effectLst>
            <a:outerShdw sx="100000" sy="100000" kx="0" ky="0" algn="bl" rotWithShape="0" blurRad="25400" dist="50800" dir="2700000">
              <a:srgbClr val="A6B4AC">
                <a:alpha val="14000"/>
              </a:srgbClr>
            </a:outerShdw>
          </a:effectLst>
        </p:spPr>
      </p:sp>
      <p:pic>
        <p:nvPicPr>
          <p:cNvPr id="14" name="Image 2" descr="/Users/yjsung/Desktop/SKALA/0908_AI_web_service/presentation/assets/image22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53912" y="2456862"/>
            <a:ext cx="2368296" cy="2154589"/>
          </a:xfrm>
          <a:prstGeom prst="rect">
            <a:avLst/>
          </a:prstGeom>
        </p:spPr>
      </p:pic>
      <p:sp>
        <p:nvSpPr>
          <p:cNvPr id="15" name="Shape 10"/>
          <p:cNvSpPr/>
          <p:nvPr/>
        </p:nvSpPr>
        <p:spPr>
          <a:xfrm>
            <a:off x="6245352" y="2103120"/>
            <a:ext cx="822960" cy="27432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Text 11"/>
          <p:cNvSpPr txBox="1"/>
          <p:nvPr/>
        </p:nvSpPr>
        <p:spPr>
          <a:xfrm>
            <a:off x="6245352" y="210312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5B4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버전 목록</a:t>
            </a:r>
            <a:endParaRPr lang="en-US" sz="900" dirty="0"/>
          </a:p>
        </p:txBody>
      </p:sp>
      <p:sp>
        <p:nvSpPr>
          <p:cNvPr id="17" name="Shape 12"/>
          <p:cNvSpPr/>
          <p:nvPr/>
        </p:nvSpPr>
        <p:spPr>
          <a:xfrm>
            <a:off x="8796528" y="1956816"/>
            <a:ext cx="2743200" cy="19202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D8E1DC"/>
            </a:solidFill>
            <a:prstDash val="solid"/>
          </a:ln>
          <a:effectLst>
            <a:outerShdw sx="100000" sy="100000" kx="0" ky="0" algn="bl" rotWithShape="0" blurRad="25400" dist="50800" dir="2700000">
              <a:srgbClr val="A6B4AC">
                <a:alpha val="14000"/>
              </a:srgbClr>
            </a:outerShdw>
          </a:effectLst>
        </p:spPr>
      </p:sp>
      <p:pic>
        <p:nvPicPr>
          <p:cNvPr id="18" name="Image 3" descr="/Users/yjsung/Desktop/SKALA/0908_AI_web_service/presentation/assets/image20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69680" y="2394484"/>
            <a:ext cx="2596896" cy="1044905"/>
          </a:xfrm>
          <a:prstGeom prst="rect">
            <a:avLst/>
          </a:prstGeom>
        </p:spPr>
      </p:pic>
      <p:sp>
        <p:nvSpPr>
          <p:cNvPr id="19" name="Shape 13"/>
          <p:cNvSpPr/>
          <p:nvPr/>
        </p:nvSpPr>
        <p:spPr>
          <a:xfrm>
            <a:off x="8961120" y="2103120"/>
            <a:ext cx="822960" cy="27432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Text 14"/>
          <p:cNvSpPr txBox="1"/>
          <p:nvPr/>
        </p:nvSpPr>
        <p:spPr>
          <a:xfrm>
            <a:off x="8961120" y="210312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5B4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새 버전</a:t>
            </a:r>
            <a:endParaRPr lang="en-US" sz="900" dirty="0"/>
          </a:p>
        </p:txBody>
      </p:sp>
      <p:sp>
        <p:nvSpPr>
          <p:cNvPr id="21" name="Shape 15"/>
          <p:cNvSpPr/>
          <p:nvPr/>
        </p:nvSpPr>
        <p:spPr>
          <a:xfrm>
            <a:off x="2057400" y="5541264"/>
            <a:ext cx="457200" cy="274320"/>
          </a:xfrm>
          <a:prstGeom prst="roundRect">
            <a:avLst>
              <a:gd name="adj" fmla="val 26667"/>
            </a:avLst>
          </a:prstGeom>
          <a:solidFill>
            <a:srgbClr val="E8F3ED"/>
          </a:solidFill>
          <a:ln w="12700">
            <a:solidFill>
              <a:srgbClr val="E8F3ED"/>
            </a:solidFill>
            <a:prstDash val="solid"/>
          </a:ln>
        </p:spPr>
      </p:sp>
      <p:sp>
        <p:nvSpPr>
          <p:cNvPr id="22" name="Text 16"/>
          <p:cNvSpPr txBox="1"/>
          <p:nvPr/>
        </p:nvSpPr>
        <p:spPr>
          <a:xfrm>
            <a:off x="2057400" y="55412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5B4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v1</a:t>
            </a:r>
            <a:endParaRPr lang="en-US" sz="900" dirty="0"/>
          </a:p>
        </p:txBody>
      </p:sp>
      <p:sp>
        <p:nvSpPr>
          <p:cNvPr id="23" name="Text 17"/>
          <p:cNvSpPr txBox="1"/>
          <p:nvPr/>
        </p:nvSpPr>
        <p:spPr>
          <a:xfrm>
            <a:off x="2642616" y="5504688"/>
            <a:ext cx="2057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4755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최초 자료·파일</a:t>
            </a:r>
            <a:endParaRPr lang="en-US" sz="1250" dirty="0"/>
          </a:p>
        </p:txBody>
      </p:sp>
      <p:sp>
        <p:nvSpPr>
          <p:cNvPr id="24" name="Shape 18"/>
          <p:cNvSpPr/>
          <p:nvPr/>
        </p:nvSpPr>
        <p:spPr>
          <a:xfrm>
            <a:off x="4389120" y="5687568"/>
            <a:ext cx="640080" cy="0"/>
          </a:xfrm>
          <a:prstGeom prst="line">
            <a:avLst/>
          </a:prstGeom>
          <a:noFill/>
          <a:ln w="19050">
            <a:solidFill>
              <a:srgbClr val="25775D"/>
            </a:solidFill>
            <a:prstDash val="solid"/>
            <a:headEnd type="none"/>
            <a:tailEnd type="triangle"/>
          </a:ln>
        </p:spPr>
      </p:sp>
      <p:sp>
        <p:nvSpPr>
          <p:cNvPr id="25" name="Shape 19"/>
          <p:cNvSpPr/>
          <p:nvPr/>
        </p:nvSpPr>
        <p:spPr>
          <a:xfrm>
            <a:off x="5257800" y="5541264"/>
            <a:ext cx="457200" cy="274320"/>
          </a:xfrm>
          <a:prstGeom prst="roundRect">
            <a:avLst>
              <a:gd name="adj" fmla="val 26667"/>
            </a:avLst>
          </a:prstGeom>
          <a:solidFill>
            <a:srgbClr val="E8F3ED"/>
          </a:solidFill>
          <a:ln w="12700">
            <a:solidFill>
              <a:srgbClr val="E8F3ED"/>
            </a:solidFill>
            <a:prstDash val="solid"/>
          </a:ln>
        </p:spPr>
      </p:sp>
      <p:sp>
        <p:nvSpPr>
          <p:cNvPr id="26" name="Text 20"/>
          <p:cNvSpPr txBox="1"/>
          <p:nvPr/>
        </p:nvSpPr>
        <p:spPr>
          <a:xfrm>
            <a:off x="5257800" y="55412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5B4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v2</a:t>
            </a:r>
            <a:endParaRPr lang="en-US" sz="900" dirty="0"/>
          </a:p>
        </p:txBody>
      </p:sp>
      <p:sp>
        <p:nvSpPr>
          <p:cNvPr id="27" name="Text 21"/>
          <p:cNvSpPr txBox="1"/>
          <p:nvPr/>
        </p:nvSpPr>
        <p:spPr>
          <a:xfrm>
            <a:off x="5843016" y="5504688"/>
            <a:ext cx="2057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4755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파일 묶음 + 변경 내용</a:t>
            </a:r>
            <a:endParaRPr lang="en-US" sz="1250" dirty="0"/>
          </a:p>
        </p:txBody>
      </p:sp>
      <p:sp>
        <p:nvSpPr>
          <p:cNvPr id="28" name="Shape 22"/>
          <p:cNvSpPr/>
          <p:nvPr/>
        </p:nvSpPr>
        <p:spPr>
          <a:xfrm>
            <a:off x="7589520" y="5687568"/>
            <a:ext cx="640080" cy="0"/>
          </a:xfrm>
          <a:prstGeom prst="line">
            <a:avLst/>
          </a:prstGeom>
          <a:noFill/>
          <a:ln w="19050">
            <a:solidFill>
              <a:srgbClr val="25775D"/>
            </a:solidFill>
            <a:prstDash val="solid"/>
            <a:headEnd type="none"/>
            <a:tailEnd type="triangle"/>
          </a:ln>
        </p:spPr>
      </p:sp>
      <p:sp>
        <p:nvSpPr>
          <p:cNvPr id="29" name="Shape 23"/>
          <p:cNvSpPr/>
          <p:nvPr/>
        </p:nvSpPr>
        <p:spPr>
          <a:xfrm>
            <a:off x="8458200" y="5541264"/>
            <a:ext cx="457200" cy="274320"/>
          </a:xfrm>
          <a:prstGeom prst="roundRect">
            <a:avLst>
              <a:gd name="adj" fmla="val 26667"/>
            </a:avLst>
          </a:prstGeom>
          <a:solidFill>
            <a:srgbClr val="D7EF65"/>
          </a:solidFill>
          <a:ln w="12700">
            <a:solidFill>
              <a:srgbClr val="D7EF65"/>
            </a:solidFill>
            <a:prstDash val="solid"/>
          </a:ln>
        </p:spPr>
      </p:sp>
      <p:sp>
        <p:nvSpPr>
          <p:cNvPr id="30" name="Text 24"/>
          <p:cNvSpPr txBox="1"/>
          <p:nvPr/>
        </p:nvSpPr>
        <p:spPr>
          <a:xfrm>
            <a:off x="8458200" y="55412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B332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v3</a:t>
            </a:r>
            <a:endParaRPr lang="en-US" sz="900" dirty="0"/>
          </a:p>
        </p:txBody>
      </p:sp>
      <p:sp>
        <p:nvSpPr>
          <p:cNvPr id="31" name="Text 25"/>
          <p:cNvSpPr txBox="1"/>
          <p:nvPr/>
        </p:nvSpPr>
        <p:spPr>
          <a:xfrm>
            <a:off x="9043416" y="5504688"/>
            <a:ext cx="2057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4755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최신본 표시 + 미확인 상태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28832" y="6473952"/>
            <a:ext cx="4572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7A8780"/>
                </a:solidFill>
                <a:latin typeface="Pretendard"/>
                <a:ea typeface="Pretendard"/>
                <a:cs typeface="Pretendard"/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777240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5775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 · DATA MODEL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1024128"/>
            <a:ext cx="11018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7231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화면의 개인화 기준을 데이터 관계로 고정했습니다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517904"/>
            <a:ext cx="10972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4755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사용자·수업 배정·콘텐츠·읽음 상태를 분리해 API가 필요한 모든 상태를 저장합니다.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58368" y="2039112"/>
            <a:ext cx="2377440" cy="3584448"/>
          </a:xfrm>
          <a:prstGeom prst="roundRect">
            <a:avLst>
              <a:gd name="adj" fmla="val 3846"/>
            </a:avLst>
          </a:prstGeom>
          <a:solidFill>
            <a:srgbClr val="E9F3EE"/>
          </a:solidFill>
          <a:ln w="12700">
            <a:solidFill>
              <a:srgbClr val="D8EBE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59536" y="2267712"/>
            <a:ext cx="197510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F5B4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IDENTITY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859536" y="2743200"/>
            <a:ext cx="1975104" cy="411480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 w="12700">
            <a:solidFill>
              <a:srgbClr val="D8E1DC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005840" y="2743200"/>
            <a:ext cx="16824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30" b="1" dirty="0">
                <a:solidFill>
                  <a:srgbClr val="17231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users</a:t>
            </a:r>
            <a:endParaRPr lang="en-US" sz="1130" dirty="0"/>
          </a:p>
        </p:txBody>
      </p:sp>
      <p:sp>
        <p:nvSpPr>
          <p:cNvPr id="9" name="Shape 7"/>
          <p:cNvSpPr/>
          <p:nvPr/>
        </p:nvSpPr>
        <p:spPr>
          <a:xfrm>
            <a:off x="859536" y="3319272"/>
            <a:ext cx="1975104" cy="411480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 w="12700">
            <a:solidFill>
              <a:srgbClr val="D8E1DC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005840" y="3319272"/>
            <a:ext cx="16824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30" b="1" dirty="0">
                <a:solidFill>
                  <a:srgbClr val="17231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student_profiles</a:t>
            </a:r>
            <a:endParaRPr lang="en-US" sz="1130" dirty="0"/>
          </a:p>
        </p:txBody>
      </p:sp>
      <p:sp>
        <p:nvSpPr>
          <p:cNvPr id="11" name="Shape 9"/>
          <p:cNvSpPr/>
          <p:nvPr/>
        </p:nvSpPr>
        <p:spPr>
          <a:xfrm>
            <a:off x="859536" y="3895344"/>
            <a:ext cx="1975104" cy="411480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 w="12700">
            <a:solidFill>
              <a:srgbClr val="D8E1DC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1005840" y="3895344"/>
            <a:ext cx="16824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30" b="1" dirty="0">
                <a:solidFill>
                  <a:srgbClr val="17231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professor_profiles</a:t>
            </a:r>
            <a:endParaRPr lang="en-US" sz="1130" dirty="0"/>
          </a:p>
        </p:txBody>
      </p:sp>
      <p:sp>
        <p:nvSpPr>
          <p:cNvPr id="13" name="Shape 11"/>
          <p:cNvSpPr/>
          <p:nvPr/>
        </p:nvSpPr>
        <p:spPr>
          <a:xfrm>
            <a:off x="859536" y="4471416"/>
            <a:ext cx="1975104" cy="411480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 w="12700">
            <a:solidFill>
              <a:srgbClr val="D8E1DC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1005840" y="4471416"/>
            <a:ext cx="16824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30" b="1" dirty="0">
                <a:solidFill>
                  <a:srgbClr val="17231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email_verifications</a:t>
            </a:r>
            <a:endParaRPr lang="en-US" sz="1130" dirty="0"/>
          </a:p>
        </p:txBody>
      </p:sp>
      <p:sp>
        <p:nvSpPr>
          <p:cNvPr id="15" name="Shape 13"/>
          <p:cNvSpPr/>
          <p:nvPr/>
        </p:nvSpPr>
        <p:spPr>
          <a:xfrm>
            <a:off x="3310128" y="2039112"/>
            <a:ext cx="2743200" cy="3584448"/>
          </a:xfrm>
          <a:prstGeom prst="roundRect">
            <a:avLst>
              <a:gd name="adj" fmla="val 3333"/>
            </a:avLst>
          </a:prstGeom>
          <a:solidFill>
            <a:srgbClr val="EDF5E3"/>
          </a:solidFill>
          <a:ln w="12700">
            <a:solidFill>
              <a:srgbClr val="D8EBE1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3511296" y="2267712"/>
            <a:ext cx="23408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F5B4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ACADEMIC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511296" y="2743200"/>
            <a:ext cx="2340864" cy="411480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 w="12700">
            <a:solidFill>
              <a:srgbClr val="D8E1DC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3657600" y="2743200"/>
            <a:ext cx="204825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30" b="1" dirty="0">
                <a:solidFill>
                  <a:srgbClr val="17231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courses</a:t>
            </a:r>
            <a:endParaRPr lang="en-US" sz="1130" dirty="0"/>
          </a:p>
        </p:txBody>
      </p:sp>
      <p:sp>
        <p:nvSpPr>
          <p:cNvPr id="19" name="Shape 17"/>
          <p:cNvSpPr/>
          <p:nvPr/>
        </p:nvSpPr>
        <p:spPr>
          <a:xfrm>
            <a:off x="3511296" y="3319272"/>
            <a:ext cx="2340864" cy="411480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 w="12700">
            <a:solidFill>
              <a:srgbClr val="D8E1DC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3657600" y="3319272"/>
            <a:ext cx="204825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30" b="1" dirty="0">
                <a:solidFill>
                  <a:srgbClr val="17231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course_schedules</a:t>
            </a:r>
            <a:endParaRPr lang="en-US" sz="1130" dirty="0"/>
          </a:p>
        </p:txBody>
      </p:sp>
      <p:sp>
        <p:nvSpPr>
          <p:cNvPr id="21" name="Shape 19"/>
          <p:cNvSpPr/>
          <p:nvPr/>
        </p:nvSpPr>
        <p:spPr>
          <a:xfrm>
            <a:off x="3511296" y="3895344"/>
            <a:ext cx="2340864" cy="411480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 w="12700">
            <a:solidFill>
              <a:srgbClr val="D8E1DC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3657600" y="3895344"/>
            <a:ext cx="204825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30" b="1" dirty="0">
                <a:solidFill>
                  <a:srgbClr val="17231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course_assignments</a:t>
            </a:r>
            <a:endParaRPr lang="en-US" sz="1130" dirty="0"/>
          </a:p>
        </p:txBody>
      </p:sp>
      <p:sp>
        <p:nvSpPr>
          <p:cNvPr id="23" name="Shape 21"/>
          <p:cNvSpPr/>
          <p:nvPr/>
        </p:nvSpPr>
        <p:spPr>
          <a:xfrm>
            <a:off x="3511296" y="4471416"/>
            <a:ext cx="2340864" cy="411480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 w="12700">
            <a:solidFill>
              <a:srgbClr val="D8E1DC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3657600" y="4471416"/>
            <a:ext cx="204825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30" b="1" dirty="0">
                <a:solidFill>
                  <a:srgbClr val="17231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classrooms</a:t>
            </a:r>
            <a:endParaRPr lang="en-US" sz="1130" dirty="0"/>
          </a:p>
        </p:txBody>
      </p:sp>
      <p:sp>
        <p:nvSpPr>
          <p:cNvPr id="25" name="Shape 23"/>
          <p:cNvSpPr/>
          <p:nvPr/>
        </p:nvSpPr>
        <p:spPr>
          <a:xfrm>
            <a:off x="6419088" y="2039112"/>
            <a:ext cx="2331720" cy="3584448"/>
          </a:xfrm>
          <a:prstGeom prst="roundRect">
            <a:avLst>
              <a:gd name="adj" fmla="val 3922"/>
            </a:avLst>
          </a:prstGeom>
          <a:solidFill>
            <a:srgbClr val="E9F3EE"/>
          </a:solidFill>
          <a:ln w="12700">
            <a:solidFill>
              <a:srgbClr val="D8EBE1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620256" y="2267712"/>
            <a:ext cx="19293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F5B4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KNOWLEDGE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6620256" y="2743200"/>
            <a:ext cx="1929384" cy="411480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 w="12700">
            <a:solidFill>
              <a:srgbClr val="D8E1DC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6766560" y="2743200"/>
            <a:ext cx="163677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30" b="1" dirty="0">
                <a:solidFill>
                  <a:srgbClr val="17231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questions</a:t>
            </a:r>
            <a:endParaRPr lang="en-US" sz="1130" dirty="0"/>
          </a:p>
        </p:txBody>
      </p:sp>
      <p:sp>
        <p:nvSpPr>
          <p:cNvPr id="29" name="Shape 27"/>
          <p:cNvSpPr/>
          <p:nvPr/>
        </p:nvSpPr>
        <p:spPr>
          <a:xfrm>
            <a:off x="6620256" y="3319272"/>
            <a:ext cx="1929384" cy="411480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 w="12700">
            <a:solidFill>
              <a:srgbClr val="D8E1DC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6766560" y="3319272"/>
            <a:ext cx="163677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30" b="1" dirty="0">
                <a:solidFill>
                  <a:srgbClr val="17231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answers</a:t>
            </a:r>
            <a:endParaRPr lang="en-US" sz="1130" dirty="0"/>
          </a:p>
        </p:txBody>
      </p:sp>
      <p:sp>
        <p:nvSpPr>
          <p:cNvPr id="31" name="Shape 29"/>
          <p:cNvSpPr/>
          <p:nvPr/>
        </p:nvSpPr>
        <p:spPr>
          <a:xfrm>
            <a:off x="6620256" y="3895344"/>
            <a:ext cx="1929384" cy="411480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 w="12700">
            <a:solidFill>
              <a:srgbClr val="D8E1DC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6766560" y="3895344"/>
            <a:ext cx="163677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30" b="1" dirty="0">
                <a:solidFill>
                  <a:srgbClr val="17231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supplements</a:t>
            </a:r>
            <a:endParaRPr lang="en-US" sz="1130" dirty="0"/>
          </a:p>
        </p:txBody>
      </p:sp>
      <p:sp>
        <p:nvSpPr>
          <p:cNvPr id="33" name="Shape 31"/>
          <p:cNvSpPr/>
          <p:nvPr/>
        </p:nvSpPr>
        <p:spPr>
          <a:xfrm>
            <a:off x="9116568" y="2039112"/>
            <a:ext cx="2423160" cy="3584448"/>
          </a:xfrm>
          <a:prstGeom prst="roundRect">
            <a:avLst>
              <a:gd name="adj" fmla="val 3774"/>
            </a:avLst>
          </a:prstGeom>
          <a:solidFill>
            <a:srgbClr val="FDECE4"/>
          </a:solidFill>
          <a:ln w="12700">
            <a:solidFill>
              <a:srgbClr val="F4B595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9317736" y="2267712"/>
            <a:ext cx="202082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17A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MATERIAL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9317736" y="2743200"/>
            <a:ext cx="2020824" cy="411480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 w="12700">
            <a:solidFill>
              <a:srgbClr val="D8E1DC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9464040" y="2743200"/>
            <a:ext cx="17282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30" b="1" dirty="0">
                <a:solidFill>
                  <a:srgbClr val="17231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materials</a:t>
            </a:r>
            <a:endParaRPr lang="en-US" sz="1130" dirty="0"/>
          </a:p>
        </p:txBody>
      </p:sp>
      <p:sp>
        <p:nvSpPr>
          <p:cNvPr id="37" name="Shape 35"/>
          <p:cNvSpPr/>
          <p:nvPr/>
        </p:nvSpPr>
        <p:spPr>
          <a:xfrm>
            <a:off x="9317736" y="3319272"/>
            <a:ext cx="2020824" cy="411480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 w="12700">
            <a:solidFill>
              <a:srgbClr val="D8E1DC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9464040" y="3319272"/>
            <a:ext cx="17282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30" b="1" dirty="0">
                <a:solidFill>
                  <a:srgbClr val="17231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material_versions</a:t>
            </a:r>
            <a:endParaRPr lang="en-US" sz="1130" dirty="0"/>
          </a:p>
        </p:txBody>
      </p:sp>
      <p:sp>
        <p:nvSpPr>
          <p:cNvPr id="39" name="Shape 37"/>
          <p:cNvSpPr/>
          <p:nvPr/>
        </p:nvSpPr>
        <p:spPr>
          <a:xfrm>
            <a:off x="9317736" y="3895344"/>
            <a:ext cx="2020824" cy="411480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 w="12700">
            <a:solidFill>
              <a:srgbClr val="D8E1DC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9464040" y="3895344"/>
            <a:ext cx="17282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30" b="1" dirty="0">
                <a:solidFill>
                  <a:srgbClr val="17231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material_files</a:t>
            </a:r>
            <a:endParaRPr lang="en-US" sz="1130" dirty="0"/>
          </a:p>
        </p:txBody>
      </p:sp>
      <p:sp>
        <p:nvSpPr>
          <p:cNvPr id="41" name="Shape 39"/>
          <p:cNvSpPr/>
          <p:nvPr/>
        </p:nvSpPr>
        <p:spPr>
          <a:xfrm>
            <a:off x="9317736" y="4471416"/>
            <a:ext cx="2020824" cy="411480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 w="12700">
            <a:solidFill>
              <a:srgbClr val="D8E1DC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9464040" y="4471416"/>
            <a:ext cx="17282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30" b="1" dirty="0">
                <a:solidFill>
                  <a:srgbClr val="17231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material_reads</a:t>
            </a:r>
            <a:endParaRPr lang="en-US" sz="1130" dirty="0"/>
          </a:p>
        </p:txBody>
      </p:sp>
      <p:sp>
        <p:nvSpPr>
          <p:cNvPr id="43" name="Shape 41"/>
          <p:cNvSpPr/>
          <p:nvPr/>
        </p:nvSpPr>
        <p:spPr>
          <a:xfrm>
            <a:off x="3044952" y="3767328"/>
            <a:ext cx="192024" cy="0"/>
          </a:xfrm>
          <a:prstGeom prst="line">
            <a:avLst/>
          </a:prstGeom>
          <a:noFill/>
          <a:ln w="19050">
            <a:solidFill>
              <a:srgbClr val="25775D"/>
            </a:solidFill>
            <a:prstDash val="solid"/>
            <a:headEnd type="none"/>
            <a:tailEnd type="triangle"/>
          </a:ln>
        </p:spPr>
      </p:sp>
      <p:sp>
        <p:nvSpPr>
          <p:cNvPr id="44" name="Shape 42"/>
          <p:cNvSpPr/>
          <p:nvPr/>
        </p:nvSpPr>
        <p:spPr>
          <a:xfrm>
            <a:off x="6071616" y="3767328"/>
            <a:ext cx="274320" cy="0"/>
          </a:xfrm>
          <a:prstGeom prst="line">
            <a:avLst/>
          </a:prstGeom>
          <a:noFill/>
          <a:ln w="19050">
            <a:solidFill>
              <a:srgbClr val="25775D"/>
            </a:solidFill>
            <a:prstDash val="solid"/>
            <a:headEnd type="none"/>
            <a:tailEnd type="triangle"/>
          </a:ln>
        </p:spPr>
      </p:sp>
      <p:sp>
        <p:nvSpPr>
          <p:cNvPr id="45" name="Shape 43"/>
          <p:cNvSpPr/>
          <p:nvPr/>
        </p:nvSpPr>
        <p:spPr>
          <a:xfrm>
            <a:off x="8769096" y="3767328"/>
            <a:ext cx="274320" cy="0"/>
          </a:xfrm>
          <a:prstGeom prst="line">
            <a:avLst/>
          </a:prstGeom>
          <a:noFill/>
          <a:ln w="19050">
            <a:solidFill>
              <a:srgbClr val="F17A42"/>
            </a:solidFill>
            <a:prstDash val="solid"/>
            <a:headEnd type="none"/>
            <a:tailEnd type="triangle"/>
          </a:ln>
        </p:spPr>
      </p:sp>
      <p:sp>
        <p:nvSpPr>
          <p:cNvPr id="46" name="Shape 44"/>
          <p:cNvSpPr/>
          <p:nvPr/>
        </p:nvSpPr>
        <p:spPr>
          <a:xfrm>
            <a:off x="685800" y="5870448"/>
            <a:ext cx="960120" cy="274320"/>
          </a:xfrm>
          <a:prstGeom prst="roundRect">
            <a:avLst>
              <a:gd name="adj" fmla="val 26667"/>
            </a:avLst>
          </a:prstGeom>
          <a:solidFill>
            <a:srgbClr val="E8F3ED"/>
          </a:solidFill>
          <a:ln w="12700">
            <a:solidFill>
              <a:srgbClr val="E8F3ED"/>
            </a:solidFill>
            <a:prstDash val="solid"/>
          </a:ln>
        </p:spPr>
      </p:sp>
      <p:sp>
        <p:nvSpPr>
          <p:cNvPr id="47" name="Text 45"/>
          <p:cNvSpPr txBox="1"/>
          <p:nvPr/>
        </p:nvSpPr>
        <p:spPr>
          <a:xfrm>
            <a:off x="685800" y="5870448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5B4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15 TABLES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1783080" y="5870448"/>
            <a:ext cx="1417320" cy="274320"/>
          </a:xfrm>
          <a:prstGeom prst="roundRect">
            <a:avLst>
              <a:gd name="adj" fmla="val 26667"/>
            </a:avLst>
          </a:prstGeom>
          <a:solidFill>
            <a:srgbClr val="E8F3ED"/>
          </a:solidFill>
          <a:ln w="12700">
            <a:solidFill>
              <a:srgbClr val="E8F3ED"/>
            </a:solidFill>
            <a:prstDash val="solid"/>
          </a:ln>
        </p:spPr>
      </p:sp>
      <p:sp>
        <p:nvSpPr>
          <p:cNvPr id="49" name="Text 47"/>
          <p:cNvSpPr txBox="1"/>
          <p:nvPr/>
        </p:nvSpPr>
        <p:spPr>
          <a:xfrm>
            <a:off x="1783080" y="5870448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5B4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FK 기반 참조 무결성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3337560" y="5870448"/>
            <a:ext cx="1417320" cy="274320"/>
          </a:xfrm>
          <a:prstGeom prst="roundRect">
            <a:avLst>
              <a:gd name="adj" fmla="val 26667"/>
            </a:avLst>
          </a:prstGeom>
          <a:solidFill>
            <a:srgbClr val="E8F3ED"/>
          </a:solidFill>
          <a:ln w="12700">
            <a:solidFill>
              <a:srgbClr val="E8F3ED"/>
            </a:solidFill>
            <a:prstDash val="solid"/>
          </a:ln>
        </p:spPr>
      </p:sp>
      <p:sp>
        <p:nvSpPr>
          <p:cNvPr id="51" name="Text 49"/>
          <p:cNvSpPr txBox="1"/>
          <p:nvPr/>
        </p:nvSpPr>
        <p:spPr>
          <a:xfrm>
            <a:off x="3337560" y="5870448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5B4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읽음·숨김 상태 포함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4892040" y="5870448"/>
            <a:ext cx="1234440" cy="274320"/>
          </a:xfrm>
          <a:prstGeom prst="roundRect">
            <a:avLst>
              <a:gd name="adj" fmla="val 26667"/>
            </a:avLst>
          </a:prstGeom>
          <a:solidFill>
            <a:srgbClr val="FDECE4"/>
          </a:solidFill>
          <a:ln w="12700">
            <a:solidFill>
              <a:srgbClr val="FDECE4"/>
            </a:solidFill>
            <a:prstDash val="solid"/>
          </a:ln>
        </p:spPr>
      </p:sp>
      <p:sp>
        <p:nvSpPr>
          <p:cNvPr id="53" name="Text 51"/>
          <p:cNvSpPr txBox="1"/>
          <p:nvPr/>
        </p:nvSpPr>
        <p:spPr>
          <a:xfrm>
            <a:off x="4892040" y="5870448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17A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버전·파일 1:N</a:t>
            </a:r>
            <a:endParaRPr lang="en-US" sz="900" dirty="0"/>
          </a:p>
        </p:txBody>
      </p:sp>
      <p:sp>
        <p:nvSpPr>
          <p:cNvPr id="54" name="Text 52"/>
          <p:cNvSpPr txBox="1"/>
          <p:nvPr/>
        </p:nvSpPr>
        <p:spPr>
          <a:xfrm>
            <a:off x="6492240" y="5824728"/>
            <a:ext cx="4983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4755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핵심 연결  users → assignments → courses → contents → visibility/read state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28832" y="6473952"/>
            <a:ext cx="4572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7A8780"/>
                </a:solidFill>
                <a:latin typeface="Pretendard"/>
                <a:ea typeface="Pretendard"/>
                <a:cs typeface="Pretendard"/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777240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5775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 · API DESIGN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1024128"/>
            <a:ext cx="11018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7231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OAS 하나로 화면·Mock Server·문서를 연결했습니다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517904"/>
            <a:ext cx="10972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4755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요청·응답·예외를 계약으로 고정해 프론트엔드 개발과 백엔드 구현의 간극을 줄였습니다.</a:t>
            </a:r>
            <a:endParaRPr lang="en-US" sz="135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1993392"/>
            <a:ext cx="1143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100" b="1" dirty="0">
                <a:solidFill>
                  <a:srgbClr val="0F5B4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33</a:t>
            </a:r>
            <a:endParaRPr lang="en-US" sz="31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2578608"/>
            <a:ext cx="1143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73807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PATHS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2203704" y="1993392"/>
            <a:ext cx="1143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100" b="1" dirty="0">
                <a:solidFill>
                  <a:srgbClr val="F17A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40</a:t>
            </a:r>
            <a:endParaRPr lang="en-US" sz="3100" dirty="0"/>
          </a:p>
        </p:txBody>
      </p:sp>
      <p:sp>
        <p:nvSpPr>
          <p:cNvPr id="8" name="Text 6"/>
          <p:cNvSpPr txBox="1"/>
          <p:nvPr/>
        </p:nvSpPr>
        <p:spPr>
          <a:xfrm>
            <a:off x="2203704" y="2578608"/>
            <a:ext cx="1143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73807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OPERATIONS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3721608" y="1993392"/>
            <a:ext cx="1143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100" b="1" dirty="0">
                <a:solidFill>
                  <a:srgbClr val="0F5B4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51</a:t>
            </a:r>
            <a:endParaRPr lang="en-US" sz="3100" dirty="0"/>
          </a:p>
        </p:txBody>
      </p:sp>
      <p:sp>
        <p:nvSpPr>
          <p:cNvPr id="10" name="Text 8"/>
          <p:cNvSpPr txBox="1"/>
          <p:nvPr/>
        </p:nvSpPr>
        <p:spPr>
          <a:xfrm>
            <a:off x="3721608" y="2578608"/>
            <a:ext cx="1143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73807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SCHEMAS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658368" y="3063240"/>
            <a:ext cx="4736592" cy="2487168"/>
          </a:xfrm>
          <a:prstGeom prst="roundRect">
            <a:avLst>
              <a:gd name="adj" fmla="val 3676"/>
            </a:avLst>
          </a:prstGeom>
          <a:solidFill>
            <a:srgbClr val="0B3328"/>
          </a:solidFill>
          <a:ln w="12700">
            <a:solidFill>
              <a:srgbClr val="0B3328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960120" y="3401568"/>
            <a:ext cx="4160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D7EF6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POST /materials/{materialId}/versions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960120" y="382219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A8C8B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multipart/form-data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960120" y="4187952"/>
            <a:ext cx="38404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files[]  ·  changeSummary  ·  visibility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960120" y="4800600"/>
            <a:ext cx="39776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D9E8E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201 Created  /  400 · 403 · 404 · 409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742432" y="1993392"/>
            <a:ext cx="5779008" cy="576072"/>
          </a:xfrm>
          <a:prstGeom prst="roundRect">
            <a:avLst>
              <a:gd name="adj" fmla="val 15873"/>
            </a:avLst>
          </a:prstGeom>
          <a:solidFill>
            <a:srgbClr val="FFFFFF"/>
          </a:solidFill>
          <a:ln w="12700">
            <a:solidFill>
              <a:srgbClr val="D8E1DC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016752" y="1993392"/>
            <a:ext cx="196596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20" b="1" dirty="0">
                <a:solidFill>
                  <a:srgbClr val="0F5B4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Auth &amp; Users</a:t>
            </a:r>
            <a:endParaRPr lang="en-US" sz="1320" dirty="0"/>
          </a:p>
        </p:txBody>
      </p:sp>
      <p:sp>
        <p:nvSpPr>
          <p:cNvPr id="18" name="Text 16"/>
          <p:cNvSpPr txBox="1"/>
          <p:nvPr/>
        </p:nvSpPr>
        <p:spPr>
          <a:xfrm>
            <a:off x="8028432" y="1993392"/>
            <a:ext cx="3182112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4755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가입·인증·계정 상태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742432" y="2761488"/>
            <a:ext cx="5779008" cy="576072"/>
          </a:xfrm>
          <a:prstGeom prst="roundRect">
            <a:avLst>
              <a:gd name="adj" fmla="val 15873"/>
            </a:avLst>
          </a:prstGeom>
          <a:solidFill>
            <a:srgbClr val="FFFFFF"/>
          </a:solidFill>
          <a:ln w="12700">
            <a:solidFill>
              <a:srgbClr val="D8E1DC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016752" y="2761488"/>
            <a:ext cx="196596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20" b="1" dirty="0">
                <a:solidFill>
                  <a:srgbClr val="0F5B4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Courses &amp; Assignments</a:t>
            </a:r>
            <a:endParaRPr lang="en-US" sz="1320" dirty="0"/>
          </a:p>
        </p:txBody>
      </p:sp>
      <p:sp>
        <p:nvSpPr>
          <p:cNvPr id="21" name="Text 19"/>
          <p:cNvSpPr txBox="1"/>
          <p:nvPr/>
        </p:nvSpPr>
        <p:spPr>
          <a:xfrm>
            <a:off x="8028432" y="2761488"/>
            <a:ext cx="3182112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4755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시간표·반별 교수 배정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742432" y="3529584"/>
            <a:ext cx="5779008" cy="576072"/>
          </a:xfrm>
          <a:prstGeom prst="roundRect">
            <a:avLst>
              <a:gd name="adj" fmla="val 15873"/>
            </a:avLst>
          </a:prstGeom>
          <a:solidFill>
            <a:srgbClr val="FFFFFF"/>
          </a:solidFill>
          <a:ln w="12700">
            <a:solidFill>
              <a:srgbClr val="D8E1DC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016752" y="3529584"/>
            <a:ext cx="196596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20" b="1" dirty="0">
                <a:solidFill>
                  <a:srgbClr val="0F5B4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Q&amp;A</a:t>
            </a:r>
            <a:endParaRPr lang="en-US" sz="1320" dirty="0"/>
          </a:p>
        </p:txBody>
      </p:sp>
      <p:sp>
        <p:nvSpPr>
          <p:cNvPr id="24" name="Text 22"/>
          <p:cNvSpPr txBox="1"/>
          <p:nvPr/>
        </p:nvSpPr>
        <p:spPr>
          <a:xfrm>
            <a:off x="8028432" y="3529584"/>
            <a:ext cx="3182112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4755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질문·답변·해결·유사 질문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5742432" y="4297680"/>
            <a:ext cx="5779008" cy="576072"/>
          </a:xfrm>
          <a:prstGeom prst="roundRect">
            <a:avLst>
              <a:gd name="adj" fmla="val 15873"/>
            </a:avLst>
          </a:prstGeom>
          <a:solidFill>
            <a:srgbClr val="FDECE4"/>
          </a:solidFill>
          <a:ln w="12700">
            <a:solidFill>
              <a:srgbClr val="F4B595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016752" y="4297680"/>
            <a:ext cx="196596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20" b="1" dirty="0">
                <a:solidFill>
                  <a:srgbClr val="F17A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Supplements &amp; Materials</a:t>
            </a:r>
            <a:endParaRPr lang="en-US" sz="1320" dirty="0"/>
          </a:p>
        </p:txBody>
      </p:sp>
      <p:sp>
        <p:nvSpPr>
          <p:cNvPr id="27" name="Text 25"/>
          <p:cNvSpPr txBox="1"/>
          <p:nvPr/>
        </p:nvSpPr>
        <p:spPr>
          <a:xfrm>
            <a:off x="8028432" y="4297680"/>
            <a:ext cx="3182112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4755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공개 범위·파일·버전·읽음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5742432" y="5065776"/>
            <a:ext cx="5779008" cy="576072"/>
          </a:xfrm>
          <a:prstGeom prst="roundRect">
            <a:avLst>
              <a:gd name="adj" fmla="val 15873"/>
            </a:avLst>
          </a:prstGeom>
          <a:solidFill>
            <a:srgbClr val="FFFFFF"/>
          </a:solidFill>
          <a:ln w="12700">
            <a:solidFill>
              <a:srgbClr val="D8E1DC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6016752" y="5065776"/>
            <a:ext cx="196596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20" b="1" dirty="0">
                <a:solidFill>
                  <a:srgbClr val="0F5B4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Admin</a:t>
            </a:r>
            <a:endParaRPr lang="en-US" sz="1320" dirty="0"/>
          </a:p>
        </p:txBody>
      </p:sp>
      <p:sp>
        <p:nvSpPr>
          <p:cNvPr id="30" name="Text 28"/>
          <p:cNvSpPr txBox="1"/>
          <p:nvPr/>
        </p:nvSpPr>
        <p:spPr>
          <a:xfrm>
            <a:off x="8028432" y="5065776"/>
            <a:ext cx="3182112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4755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승인·활성화·학생 조회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8988552" y="5925312"/>
            <a:ext cx="987552" cy="274320"/>
          </a:xfrm>
          <a:prstGeom prst="roundRect">
            <a:avLst>
              <a:gd name="adj" fmla="val 26667"/>
            </a:avLst>
          </a:prstGeom>
          <a:solidFill>
            <a:srgbClr val="E8F3ED"/>
          </a:solidFill>
          <a:ln w="12700">
            <a:solidFill>
              <a:srgbClr val="E8F3ED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8988552" y="5925312"/>
            <a:ext cx="987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5B4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Swagger UI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10076688" y="5925312"/>
            <a:ext cx="1188720" cy="274320"/>
          </a:xfrm>
          <a:prstGeom prst="roundRect">
            <a:avLst>
              <a:gd name="adj" fmla="val 26667"/>
            </a:avLst>
          </a:prstGeom>
          <a:solidFill>
            <a:srgbClr val="D7EF65"/>
          </a:solidFill>
          <a:ln w="12700">
            <a:solidFill>
              <a:srgbClr val="D7EF65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10076688" y="5925312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B332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OAS Mock Server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28832" y="6473952"/>
            <a:ext cx="4572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7A8780"/>
                </a:solidFill>
                <a:latin typeface="Pretendard"/>
                <a:ea typeface="Pretendard"/>
                <a:cs typeface="Pretendard"/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8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977640" cy="6858000"/>
          </a:xfrm>
          <a:prstGeom prst="rect">
            <a:avLst/>
          </a:prstGeom>
          <a:solidFill>
            <a:srgbClr val="0B3328"/>
          </a:solidFill>
          <a:ln w="12700">
            <a:solidFill>
              <a:srgbClr val="0B3328"/>
            </a:solidFill>
            <a:prstDash val="solid"/>
          </a:ln>
        </p:spPr>
      </p:sp>
      <p:pic>
        <p:nvPicPr>
          <p:cNvPr id="3" name="Image 0" descr="/Users/yjsung/Desktop/SKALA/0908_AI_web_service/projects/skalog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512064"/>
            <a:ext cx="1645920" cy="54864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94360" y="1901952"/>
            <a:ext cx="2880360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수업이 끝나도,</a:t>
            </a:r>
            <a:endParaRPr lang="en-US" sz="2600" dirty="0"/>
          </a:p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지식은 계속 이어집니다.</a:t>
            </a:r>
            <a:endParaRPr lang="en-US" sz="2600" dirty="0"/>
          </a:p>
        </p:txBody>
      </p:sp>
      <p:sp>
        <p:nvSpPr>
          <p:cNvPr id="5" name="Text 2"/>
          <p:cNvSpPr txBox="1"/>
          <p:nvPr/>
        </p:nvSpPr>
        <p:spPr>
          <a:xfrm>
            <a:off x="594360" y="4069080"/>
            <a:ext cx="2286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D7EF6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SKALog</a:t>
            </a:r>
            <a:endParaRPr lang="en-US" sz="3000" dirty="0"/>
          </a:p>
        </p:txBody>
      </p:sp>
      <p:sp>
        <p:nvSpPr>
          <p:cNvPr id="6" name="Text 3"/>
          <p:cNvSpPr txBox="1"/>
          <p:nvPr/>
        </p:nvSpPr>
        <p:spPr>
          <a:xfrm>
            <a:off x="594360" y="6108192"/>
            <a:ext cx="1508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9DBBA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THANK YOU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4526280" y="73152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5775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NEXT STEP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4526280" y="1069848"/>
            <a:ext cx="630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7231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화면을 넘어, 실제 운영으로</a:t>
            </a:r>
            <a:endParaRPr lang="en-US" sz="2700" dirty="0"/>
          </a:p>
        </p:txBody>
      </p:sp>
      <p:sp>
        <p:nvSpPr>
          <p:cNvPr id="9" name="Text 6"/>
          <p:cNvSpPr txBox="1"/>
          <p:nvPr/>
        </p:nvSpPr>
        <p:spPr>
          <a:xfrm>
            <a:off x="4572000" y="1847088"/>
            <a:ext cx="4389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17A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</a:t>
            </a:r>
            <a:endParaRPr lang="en-US" sz="1100" dirty="0"/>
          </a:p>
        </p:txBody>
      </p:sp>
      <p:sp>
        <p:nvSpPr>
          <p:cNvPr id="10" name="Text 7"/>
          <p:cNvSpPr txBox="1"/>
          <p:nvPr/>
        </p:nvSpPr>
        <p:spPr>
          <a:xfrm>
            <a:off x="5138928" y="1847088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7231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실제 백엔드·스토리지</a:t>
            </a:r>
            <a:endParaRPr lang="en-US" sz="1600" dirty="0"/>
          </a:p>
        </p:txBody>
      </p:sp>
      <p:sp>
        <p:nvSpPr>
          <p:cNvPr id="11" name="Text 8"/>
          <p:cNvSpPr txBox="1"/>
          <p:nvPr/>
        </p:nvSpPr>
        <p:spPr>
          <a:xfrm>
            <a:off x="7223760" y="1847088"/>
            <a:ext cx="4160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4755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DB 영속화, 파일 저장소, 다운로드 권한 검증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5138928" y="2432304"/>
            <a:ext cx="6217920" cy="0"/>
          </a:xfrm>
          <a:prstGeom prst="line">
            <a:avLst/>
          </a:prstGeom>
          <a:noFill/>
          <a:ln w="12700">
            <a:solidFill>
              <a:srgbClr val="D8E1DC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4572000" y="2816352"/>
            <a:ext cx="4389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5B4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</a:t>
            </a:r>
            <a:endParaRPr lang="en-US" sz="1100" dirty="0"/>
          </a:p>
        </p:txBody>
      </p:sp>
      <p:sp>
        <p:nvSpPr>
          <p:cNvPr id="14" name="Text 11"/>
          <p:cNvSpPr txBox="1"/>
          <p:nvPr/>
        </p:nvSpPr>
        <p:spPr>
          <a:xfrm>
            <a:off x="5138928" y="2816352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7231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실제 메일 인증·보안</a:t>
            </a:r>
            <a:endParaRPr lang="en-US" sz="1600" dirty="0"/>
          </a:p>
        </p:txBody>
      </p:sp>
      <p:sp>
        <p:nvSpPr>
          <p:cNvPr id="15" name="Text 12"/>
          <p:cNvSpPr txBox="1"/>
          <p:nvPr/>
        </p:nvSpPr>
        <p:spPr>
          <a:xfrm>
            <a:off x="7223760" y="2816352"/>
            <a:ext cx="4160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4755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인증 메일 발송, 세션 만료, 감사 로그</a:t>
            </a:r>
            <a:endParaRPr lang="en-US" sz="1250" dirty="0"/>
          </a:p>
        </p:txBody>
      </p:sp>
      <p:sp>
        <p:nvSpPr>
          <p:cNvPr id="16" name="Shape 13"/>
          <p:cNvSpPr/>
          <p:nvPr/>
        </p:nvSpPr>
        <p:spPr>
          <a:xfrm>
            <a:off x="5138928" y="3401568"/>
            <a:ext cx="6217920" cy="0"/>
          </a:xfrm>
          <a:prstGeom prst="line">
            <a:avLst/>
          </a:prstGeom>
          <a:noFill/>
          <a:ln w="12700">
            <a:solidFill>
              <a:srgbClr val="D8E1DC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4572000" y="3785616"/>
            <a:ext cx="4389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5B4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5138928" y="3785616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7231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지식 검색 고도화</a:t>
            </a:r>
            <a:endParaRPr lang="en-US" sz="1600" dirty="0"/>
          </a:p>
        </p:txBody>
      </p:sp>
      <p:sp>
        <p:nvSpPr>
          <p:cNvPr id="19" name="Text 16"/>
          <p:cNvSpPr txBox="1"/>
          <p:nvPr/>
        </p:nvSpPr>
        <p:spPr>
          <a:xfrm>
            <a:off x="7223760" y="3785616"/>
            <a:ext cx="4160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4755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의미 기반 유사 질문 추천과 통합 검색</a:t>
            </a:r>
            <a:endParaRPr lang="en-US" sz="1250" dirty="0"/>
          </a:p>
        </p:txBody>
      </p:sp>
      <p:sp>
        <p:nvSpPr>
          <p:cNvPr id="20" name="Shape 17"/>
          <p:cNvSpPr/>
          <p:nvPr/>
        </p:nvSpPr>
        <p:spPr>
          <a:xfrm>
            <a:off x="5138928" y="4370832"/>
            <a:ext cx="6217920" cy="0"/>
          </a:xfrm>
          <a:prstGeom prst="line">
            <a:avLst/>
          </a:prstGeom>
          <a:noFill/>
          <a:ln w="12700">
            <a:solidFill>
              <a:srgbClr val="D8E1DC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4572000" y="4754880"/>
            <a:ext cx="4389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5B4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</a:t>
            </a:r>
            <a:endParaRPr lang="en-US" sz="1100" dirty="0"/>
          </a:p>
        </p:txBody>
      </p:sp>
      <p:sp>
        <p:nvSpPr>
          <p:cNvPr id="22" name="Text 19"/>
          <p:cNvSpPr txBox="1"/>
          <p:nvPr/>
        </p:nvSpPr>
        <p:spPr>
          <a:xfrm>
            <a:off x="5138928" y="4754880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7231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운영 지표</a:t>
            </a:r>
            <a:endParaRPr lang="en-US" sz="1600" dirty="0"/>
          </a:p>
        </p:txBody>
      </p:sp>
      <p:sp>
        <p:nvSpPr>
          <p:cNvPr id="23" name="Text 20"/>
          <p:cNvSpPr txBox="1"/>
          <p:nvPr/>
        </p:nvSpPr>
        <p:spPr>
          <a:xfrm>
            <a:off x="7223760" y="4754880"/>
            <a:ext cx="4160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4755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미해결 질문 시간, 자료 확인율, 반별 참여도</a:t>
            </a:r>
            <a:endParaRPr lang="en-US" sz="1250" dirty="0"/>
          </a:p>
        </p:txBody>
      </p:sp>
      <p:sp>
        <p:nvSpPr>
          <p:cNvPr id="24" name="Shape 21"/>
          <p:cNvSpPr/>
          <p:nvPr/>
        </p:nvSpPr>
        <p:spPr>
          <a:xfrm>
            <a:off x="5138928" y="5340096"/>
            <a:ext cx="6217920" cy="0"/>
          </a:xfrm>
          <a:prstGeom prst="line">
            <a:avLst/>
          </a:prstGeom>
          <a:noFill/>
          <a:ln w="12700">
            <a:solidFill>
              <a:srgbClr val="D8E1DC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4572000" y="5897880"/>
            <a:ext cx="6766560" cy="502920"/>
          </a:xfrm>
          <a:prstGeom prst="roundRect">
            <a:avLst>
              <a:gd name="adj" fmla="val 18182"/>
            </a:avLst>
          </a:prstGeom>
          <a:solidFill>
            <a:srgbClr val="E8F3ED"/>
          </a:solidFill>
          <a:ln w="12700">
            <a:solidFill>
              <a:srgbClr val="D8EBE1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4800600" y="5897880"/>
            <a:ext cx="6309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5B4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핵심 가치  |  흩어진 정보를 쌓이는 지식으로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Pretendard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Pretendard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</vt:vector>
  </TitlesOfParts>
  <Company>SKALA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SKALog</dc:title>
  <dc:subject>SKALA 학습 지식 공유 서비스 발표</dc:subject>
  <dc:creator>SKALog · 1반 6조 성유정</dc:creator>
  <cp:lastModifiedBy>SKALog · 1반 6조 성유정</cp:lastModifiedBy>
  <cp:revision>1</cp:revision>
  <dcterms:created xsi:type="dcterms:W3CDTF">2026-09-09T04:37:19Z</dcterms:created>
  <dcterms:modified xsi:type="dcterms:W3CDTF">2026-09-09T04:37:19Z</dcterms:modified>
</cp:coreProperties>
</file>